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JetBrains Mono" charset="1" panose="02010509020102050004"/>
      <p:regular r:id="rId17"/>
    </p:embeddedFont>
    <p:embeddedFont>
      <p:font typeface="Arimo Bold" charset="1" panose="020B0704020202020204"/>
      <p:regular r:id="rId18"/>
    </p:embeddedFont>
    <p:embeddedFont>
      <p:font typeface="JetBrains Mono Bold" charset="1" panose="0201080903010205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Apresentar a equipe e o tema: como proteger dados e sistemas.</a:t>
            </a:r>
          </a:p>
          <a:p>
            <a:r>
              <a:rPr lang="en-US"/>
              <a:t>Mencionar o evento: Semana da Computação.</a:t>
            </a:r>
          </a:p>
          <a:p>
            <a:r>
              <a:rPr lang="en-US"/>
              <a:t>Transição: “Mas, afinal, o que são mecanismos de segurança?”</a:t>
            </a:r>
          </a:p>
          <a:p>
            <a:r>
              <a:rPr lang="en-US"/>
              <a:t>Pronúncia: Cybersecurity ≈ “sái-ber-si-kiú-ri-ti”.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Mecanismos são recursos, técnicas e ferramentas de proteção.</a:t>
            </a:r>
          </a:p>
          <a:p>
            <a:r>
              <a:rPr lang="en-US"/>
              <a:t>Explicar os três pilares com exemplos simples (ex.: uma conversa privada = confidencialidade).</a:t>
            </a:r>
          </a:p>
          <a:p>
            <a:r>
              <a:rPr lang="en-US"/>
              <a:t>Transição: “Agora, vamos ver quais mecanismos usamos no dia a dia.”</a:t>
            </a:r>
          </a:p>
          <a:p>
            <a:r>
              <a:rPr lang="en-US"/>
              <a:t>Pronúncia: Confidentiality ≈ “con-fi-den-xi-á-li-ti”; Integrity ≈ “in-té-gri-ti”; Availability ≈ “a-vei-la-bí-li-ti”.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Apresentar cada card: senha forte, 2FA, criptografia, antivírus.</a:t>
            </a:r>
          </a:p>
          <a:p>
            <a:r>
              <a:rPr lang="en-US"/>
              <a:t>Exemplo de 2FA: código enviado ao celular após digitar a senha.</a:t>
            </a:r>
          </a:p>
          <a:p>
            <a:r>
              <a:rPr lang="en-US"/>
              <a:t>Transição: “Esses mecanismos existem porque há ameaças reais.”</a:t>
            </a:r>
          </a:p>
          <a:p>
            <a:r>
              <a:rPr lang="en-US"/>
              <a:t>Pronúncia: Encryption ≈ “en-crip-xân”; Two-Factor Authentication ≈ “tchu-fác-tor ó-ten-ti-kêi-xân”.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Apresentar as ameaças sem alarmismo.</a:t>
            </a:r>
          </a:p>
          <a:p>
            <a:r>
              <a:rPr lang="en-US"/>
              <a:t>Analisar o e-mail fictício: remetente estranho, urgência, pedido de senha.</a:t>
            </a:r>
          </a:p>
          <a:p>
            <a:r>
              <a:rPr lang="en-US"/>
              <a:t>Reforçar: muitas ameaças dependem da nossa atenção.</a:t>
            </a:r>
          </a:p>
          <a:p>
            <a:r>
              <a:rPr lang="en-US"/>
              <a:t>Transição: “Como podemos nos proteger na prática?”</a:t>
            </a:r>
          </a:p>
          <a:p>
            <a:r>
              <a:rPr lang="en-US"/>
              <a:t>Pronúncia: Phishing ≈ “fí-xin”; Malware ≈ “mál-uér”.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Comparar A e B (cerca de 2 minutos).</a:t>
            </a:r>
          </a:p>
          <a:p>
            <a:r>
              <a:rPr lang="en-US"/>
              <a:t>A: senha curta, sem verificação extra. B: senha longa e única, 2FA, atualizações.</a:t>
            </a:r>
          </a:p>
          <a:p>
            <a:r>
              <a:rPr lang="en-US"/>
              <a:t>Senhas mostradas são fictícias — nunca usar dados pessoais.</a:t>
            </a:r>
          </a:p>
          <a:p>
            <a:r>
              <a:rPr lang="en-US"/>
              <a:t>Mensagem central: segurança em camadas.</a:t>
            </a:r>
          </a:p>
          <a:p>
            <a:r>
              <a:rPr lang="en-US"/>
              <a:t>Transição: “Para fechar, nossas recomendações.”</a:t>
            </a:r>
          </a:p>
          <a:p>
            <a:r>
              <a:rPr lang="en-US"/>
              <a:t>Pronúncia: Multi-Layered Security ≈ “mâl-ti lêi-erd si-kiú-ri-ti”.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Ler as cinco boas práticas.</a:t>
            </a:r>
          </a:p>
          <a:p>
            <a:r>
              <a:rPr lang="en-US"/>
              <a:t>Encerrar com a frase de impacto e agradecer ao público.</a:t>
            </a:r>
          </a:p>
          <a:p>
            <a:r>
              <a:rPr lang="en-US"/>
              <a:t>Abrir espaço para perguntas.</a:t>
            </a:r>
          </a:p>
          <a:p>
            <a:r>
              <a:rPr lang="en-US"/>
              <a:t>Pronúncia: Backup ≈ “béc-âp”; Security starts with us ≈ “si-kiú-ri-ti starts uíd âs”.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Convidar o público a acessar o site educativo pelo QR Code para continuar aprendendo.</a:t>
            </a:r>
          </a:p>
          <a:p>
            <a:r>
              <a:rPr lang="en-US"/>
              <a:t>Indicar o link do repositório do trabalho, quando estiver disponível.</a:t>
            </a:r>
          </a:p>
          <a:p>
            <a:r>
              <a:rPr lang="en-US"/>
              <a:t>Ler a frase final: “Security starts with us.” e agradecer.</a:t>
            </a:r>
          </a:p>
          <a:p>
            <a:r>
              <a:rPr lang="en-US"/>
              <a:t>Abrir espaço para perguntas.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jpe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20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2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8238" y="947738"/>
            <a:ext cx="466725" cy="466725"/>
            <a:chOff x="0" y="0"/>
            <a:chExt cx="622300" cy="622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207391"/>
                  </a:moveTo>
                  <a:cubicBezTo>
                    <a:pt x="0" y="92837"/>
                    <a:pt x="92837" y="0"/>
                    <a:pt x="207391" y="0"/>
                  </a:cubicBezTo>
                  <a:lnTo>
                    <a:pt x="414909" y="0"/>
                  </a:lnTo>
                  <a:cubicBezTo>
                    <a:pt x="529463" y="0"/>
                    <a:pt x="622300" y="92837"/>
                    <a:pt x="622300" y="207391"/>
                  </a:cubicBezTo>
                  <a:lnTo>
                    <a:pt x="622300" y="414909"/>
                  </a:lnTo>
                  <a:cubicBezTo>
                    <a:pt x="622300" y="529463"/>
                    <a:pt x="529463" y="622300"/>
                    <a:pt x="414909" y="622300"/>
                  </a:cubicBezTo>
                  <a:lnTo>
                    <a:pt x="207391" y="622300"/>
                  </a:lnTo>
                  <a:cubicBezTo>
                    <a:pt x="92837" y="622300"/>
                    <a:pt x="0" y="529463"/>
                    <a:pt x="0" y="414909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1066800"/>
            <a:ext cx="228600" cy="228600"/>
            <a:chOff x="0" y="0"/>
            <a:chExt cx="304800" cy="304800"/>
          </a:xfrm>
        </p:grpSpPr>
        <p:sp>
          <p:nvSpPr>
            <p:cNvPr name="Freeform 7" id="7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14500" y="1038225"/>
            <a:ext cx="8313896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SEMANA DA COMPUTAÇÃO · NOVEMBRO DE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886075"/>
            <a:ext cx="6708038" cy="381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CYBERSECURITY · SEGURANÇA CIBERNÉTICA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3171825"/>
            <a:ext cx="9004459" cy="1610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6"/>
              </a:lnSpc>
            </a:pPr>
            <a:r>
              <a:rPr lang="en-US" sz="9000" b="true">
                <a:solidFill>
                  <a:srgbClr val="EFF6FB"/>
                </a:solidFill>
                <a:latin typeface="Arimo Bold"/>
                <a:ea typeface="Arimo Bold"/>
                <a:cs typeface="Arimo Bold"/>
                <a:sym typeface="Arimo Bold"/>
              </a:rPr>
              <a:t>MECANISMOS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4257675"/>
            <a:ext cx="10004584" cy="1610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6"/>
              </a:lnSpc>
            </a:pPr>
            <a:r>
              <a:rPr lang="en-US" sz="900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DE SEGURANÇA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5915025"/>
            <a:ext cx="8766334" cy="524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5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Como proteger nossos dados e sistemas no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6400800"/>
            <a:ext cx="3015615" cy="524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5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mundo digital.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8334375"/>
            <a:ext cx="2164318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INTEGRANTES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38238" y="8739188"/>
            <a:ext cx="2085975" cy="600075"/>
            <a:chOff x="0" y="0"/>
            <a:chExt cx="2781300" cy="800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81300" cy="800100"/>
            </a:xfrm>
            <a:custGeom>
              <a:avLst/>
              <a:gdLst/>
              <a:ahLst/>
              <a:cxnLst/>
              <a:rect r="r" b="b" t="t" l="l"/>
              <a:pathLst>
                <a:path h="800100" w="2781300">
                  <a:moveTo>
                    <a:pt x="0" y="258064"/>
                  </a:moveTo>
                  <a:cubicBezTo>
                    <a:pt x="0" y="115570"/>
                    <a:pt x="115570" y="0"/>
                    <a:pt x="258064" y="0"/>
                  </a:cubicBezTo>
                  <a:lnTo>
                    <a:pt x="2523236" y="0"/>
                  </a:lnTo>
                  <a:cubicBezTo>
                    <a:pt x="2665730" y="0"/>
                    <a:pt x="2781300" y="115570"/>
                    <a:pt x="2781300" y="258064"/>
                  </a:cubicBezTo>
                  <a:lnTo>
                    <a:pt x="2781300" y="542036"/>
                  </a:lnTo>
                  <a:cubicBezTo>
                    <a:pt x="2781300" y="684530"/>
                    <a:pt x="2665730" y="800100"/>
                    <a:pt x="2523236" y="800100"/>
                  </a:cubicBezTo>
                  <a:lnTo>
                    <a:pt x="258064" y="800100"/>
                  </a:lnTo>
                  <a:cubicBezTo>
                    <a:pt x="115570" y="800100"/>
                    <a:pt x="0" y="684530"/>
                    <a:pt x="0" y="542036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81125" y="8858250"/>
            <a:ext cx="2205990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Stênio Moraes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328988" y="8739188"/>
            <a:ext cx="1752600" cy="600075"/>
            <a:chOff x="0" y="0"/>
            <a:chExt cx="2336800" cy="800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36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336800">
                  <a:moveTo>
                    <a:pt x="0" y="258064"/>
                  </a:moveTo>
                  <a:cubicBezTo>
                    <a:pt x="0" y="115570"/>
                    <a:pt x="115570" y="0"/>
                    <a:pt x="258064" y="0"/>
                  </a:cubicBezTo>
                  <a:lnTo>
                    <a:pt x="2078736" y="0"/>
                  </a:lnTo>
                  <a:cubicBezTo>
                    <a:pt x="2221230" y="0"/>
                    <a:pt x="2336800" y="115570"/>
                    <a:pt x="2336800" y="258064"/>
                  </a:cubicBezTo>
                  <a:lnTo>
                    <a:pt x="2336800" y="542036"/>
                  </a:lnTo>
                  <a:cubicBezTo>
                    <a:pt x="2336800" y="684530"/>
                    <a:pt x="2221230" y="800100"/>
                    <a:pt x="2078736" y="800100"/>
                  </a:cubicBezTo>
                  <a:lnTo>
                    <a:pt x="258064" y="800100"/>
                  </a:lnTo>
                  <a:cubicBezTo>
                    <a:pt x="115570" y="800100"/>
                    <a:pt x="0" y="684530"/>
                    <a:pt x="0" y="542036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3571875" y="8858250"/>
            <a:ext cx="1789271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Renan Silva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186362" y="8739188"/>
            <a:ext cx="1600200" cy="600075"/>
            <a:chOff x="0" y="0"/>
            <a:chExt cx="2133600" cy="800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3600" cy="800100"/>
            </a:xfrm>
            <a:custGeom>
              <a:avLst/>
              <a:gdLst/>
              <a:ahLst/>
              <a:cxnLst/>
              <a:rect r="r" b="b" t="t" l="l"/>
              <a:pathLst>
                <a:path h="800100" w="2133600">
                  <a:moveTo>
                    <a:pt x="0" y="258064"/>
                  </a:moveTo>
                  <a:cubicBezTo>
                    <a:pt x="0" y="115570"/>
                    <a:pt x="115570" y="0"/>
                    <a:pt x="258064" y="0"/>
                  </a:cubicBezTo>
                  <a:lnTo>
                    <a:pt x="1875536" y="0"/>
                  </a:lnTo>
                  <a:cubicBezTo>
                    <a:pt x="2018030" y="0"/>
                    <a:pt x="2133600" y="115570"/>
                    <a:pt x="2133600" y="258064"/>
                  </a:cubicBezTo>
                  <a:lnTo>
                    <a:pt x="2133600" y="542036"/>
                  </a:lnTo>
                  <a:cubicBezTo>
                    <a:pt x="2133600" y="684530"/>
                    <a:pt x="2018030" y="800100"/>
                    <a:pt x="1875536" y="800100"/>
                  </a:cubicBezTo>
                  <a:lnTo>
                    <a:pt x="258064" y="800100"/>
                  </a:lnTo>
                  <a:cubicBezTo>
                    <a:pt x="115570" y="800100"/>
                    <a:pt x="0" y="684530"/>
                    <a:pt x="0" y="542036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5429250" y="8858250"/>
            <a:ext cx="1598771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Levi Mano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91338" y="8739188"/>
            <a:ext cx="2352675" cy="600075"/>
            <a:chOff x="0" y="0"/>
            <a:chExt cx="3136900" cy="800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36900" cy="800100"/>
            </a:xfrm>
            <a:custGeom>
              <a:avLst/>
              <a:gdLst/>
              <a:ahLst/>
              <a:cxnLst/>
              <a:rect r="r" b="b" t="t" l="l"/>
              <a:pathLst>
                <a:path h="800100" w="3136900">
                  <a:moveTo>
                    <a:pt x="0" y="258064"/>
                  </a:moveTo>
                  <a:cubicBezTo>
                    <a:pt x="0" y="115570"/>
                    <a:pt x="115570" y="0"/>
                    <a:pt x="258064" y="0"/>
                  </a:cubicBezTo>
                  <a:lnTo>
                    <a:pt x="2878836" y="0"/>
                  </a:lnTo>
                  <a:cubicBezTo>
                    <a:pt x="3021330" y="0"/>
                    <a:pt x="3136900" y="115570"/>
                    <a:pt x="3136900" y="258064"/>
                  </a:cubicBezTo>
                  <a:lnTo>
                    <a:pt x="3136900" y="542036"/>
                  </a:lnTo>
                  <a:cubicBezTo>
                    <a:pt x="3136900" y="684530"/>
                    <a:pt x="3021330" y="800100"/>
                    <a:pt x="2878836" y="800100"/>
                  </a:cubicBezTo>
                  <a:lnTo>
                    <a:pt x="258064" y="800100"/>
                  </a:lnTo>
                  <a:cubicBezTo>
                    <a:pt x="115570" y="800100"/>
                    <a:pt x="0" y="684530"/>
                    <a:pt x="0" y="542036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7134225" y="8858250"/>
            <a:ext cx="2539365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Kauan Rodrigues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48788" y="8739188"/>
            <a:ext cx="1943100" cy="600075"/>
            <a:chOff x="0" y="0"/>
            <a:chExt cx="2590800" cy="800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90800" cy="800100"/>
            </a:xfrm>
            <a:custGeom>
              <a:avLst/>
              <a:gdLst/>
              <a:ahLst/>
              <a:cxnLst/>
              <a:rect r="r" b="b" t="t" l="l"/>
              <a:pathLst>
                <a:path h="800100" w="2590800">
                  <a:moveTo>
                    <a:pt x="0" y="258064"/>
                  </a:moveTo>
                  <a:cubicBezTo>
                    <a:pt x="0" y="115570"/>
                    <a:pt x="115570" y="0"/>
                    <a:pt x="258064" y="0"/>
                  </a:cubicBezTo>
                  <a:lnTo>
                    <a:pt x="2332736" y="0"/>
                  </a:lnTo>
                  <a:cubicBezTo>
                    <a:pt x="2475230" y="0"/>
                    <a:pt x="2590800" y="115570"/>
                    <a:pt x="2590800" y="258064"/>
                  </a:cubicBezTo>
                  <a:lnTo>
                    <a:pt x="2590800" y="542036"/>
                  </a:lnTo>
                  <a:cubicBezTo>
                    <a:pt x="2590800" y="684530"/>
                    <a:pt x="2475230" y="800100"/>
                    <a:pt x="2332736" y="800100"/>
                  </a:cubicBezTo>
                  <a:lnTo>
                    <a:pt x="258064" y="800100"/>
                  </a:lnTo>
                  <a:cubicBezTo>
                    <a:pt x="115570" y="800100"/>
                    <a:pt x="0" y="684530"/>
                    <a:pt x="0" y="542036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591675" y="8858250"/>
            <a:ext cx="2027396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Pedro Soares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47750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7376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86" y="890588"/>
            <a:ext cx="628650" cy="28575"/>
            <a:chOff x="0" y="0"/>
            <a:chExt cx="8382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8200" cy="38100"/>
            </a:xfrm>
            <a:custGeom>
              <a:avLst/>
              <a:gdLst/>
              <a:ahLst/>
              <a:cxnLst/>
              <a:rect r="r" b="b" t="t" l="l"/>
              <a:pathLst>
                <a:path h="381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DCF7">
                <a:alpha val="35686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21411" y="762000"/>
            <a:ext cx="1777365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CONCEITO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1123950"/>
            <a:ext cx="14328972" cy="96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2"/>
              </a:lnSpc>
            </a:pPr>
            <a:r>
              <a:rPr lang="en-US" sz="510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O que são mecanismos de segurança?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2375449"/>
            <a:ext cx="9183052" cy="49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4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Recursos, técnicas e ferramentas que protegem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0" y="2375449"/>
            <a:ext cx="2515552" cy="49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400">
                <a:solidFill>
                  <a:srgbClr val="13DCF6"/>
                </a:solidFill>
                <a:latin typeface="Arimo"/>
                <a:ea typeface="Arimo"/>
                <a:cs typeface="Arimo"/>
                <a:sym typeface="Arimo"/>
              </a:rPr>
              <a:t>informações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77450" y="2375449"/>
            <a:ext cx="384334" cy="49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4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20325" y="2375449"/>
            <a:ext cx="2444115" cy="49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400">
                <a:solidFill>
                  <a:srgbClr val="13DCF6"/>
                </a:solidFill>
                <a:latin typeface="Arimo"/>
                <a:ea typeface="Arimo"/>
                <a:cs typeface="Arimo"/>
                <a:sym typeface="Arimo"/>
              </a:rPr>
              <a:t>dispositivos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11025" y="2375449"/>
            <a:ext cx="622459" cy="49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4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44400" y="2375449"/>
            <a:ext cx="1848802" cy="49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400">
                <a:solidFill>
                  <a:srgbClr val="13DCF6"/>
                </a:solidFill>
                <a:latin typeface="Arimo"/>
                <a:ea typeface="Arimo"/>
                <a:cs typeface="Arimo"/>
                <a:sym typeface="Arimo"/>
              </a:rPr>
              <a:t>sistemas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7750" y="2794549"/>
            <a:ext cx="13540740" cy="49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4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 contra acessos não autorizados, alterações indevidas e outras ameaças.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2988" y="3589887"/>
            <a:ext cx="5203774" cy="5339801"/>
            <a:chOff x="0" y="0"/>
            <a:chExt cx="6938366" cy="71197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38390" cy="7119747"/>
            </a:xfrm>
            <a:custGeom>
              <a:avLst/>
              <a:gdLst/>
              <a:ahLst/>
              <a:cxnLst/>
              <a:rect r="r" b="b" t="t" l="l"/>
              <a:pathLst>
                <a:path h="7119747" w="6938390">
                  <a:moveTo>
                    <a:pt x="0" y="254508"/>
                  </a:moveTo>
                  <a:cubicBezTo>
                    <a:pt x="0" y="113919"/>
                    <a:pt x="113919" y="0"/>
                    <a:pt x="254508" y="0"/>
                  </a:cubicBezTo>
                  <a:lnTo>
                    <a:pt x="6683883" y="0"/>
                  </a:lnTo>
                  <a:cubicBezTo>
                    <a:pt x="6824472" y="0"/>
                    <a:pt x="6938390" y="113919"/>
                    <a:pt x="6938390" y="254508"/>
                  </a:cubicBezTo>
                  <a:lnTo>
                    <a:pt x="6938390" y="6865239"/>
                  </a:lnTo>
                  <a:cubicBezTo>
                    <a:pt x="6938390" y="7005828"/>
                    <a:pt x="6824472" y="7119747"/>
                    <a:pt x="6683883" y="7119747"/>
                  </a:cubicBezTo>
                  <a:lnTo>
                    <a:pt x="254508" y="7119747"/>
                  </a:lnTo>
                  <a:cubicBezTo>
                    <a:pt x="113919" y="7119747"/>
                    <a:pt x="0" y="7005828"/>
                    <a:pt x="0" y="6865239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33512" y="3980412"/>
            <a:ext cx="771525" cy="771525"/>
            <a:chOff x="0" y="0"/>
            <a:chExt cx="1028700" cy="1028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205740"/>
                  </a:moveTo>
                  <a:cubicBezTo>
                    <a:pt x="0" y="92075"/>
                    <a:pt x="92075" y="0"/>
                    <a:pt x="205740" y="0"/>
                  </a:cubicBezTo>
                  <a:lnTo>
                    <a:pt x="822960" y="0"/>
                  </a:lnTo>
                  <a:cubicBezTo>
                    <a:pt x="936625" y="0"/>
                    <a:pt x="1028700" y="92075"/>
                    <a:pt x="1028700" y="205740"/>
                  </a:cubicBezTo>
                  <a:lnTo>
                    <a:pt x="1028700" y="822960"/>
                  </a:lnTo>
                  <a:cubicBezTo>
                    <a:pt x="1028700" y="936625"/>
                    <a:pt x="936625" y="1028700"/>
                    <a:pt x="822960" y="1028700"/>
                  </a:cubicBezTo>
                  <a:lnTo>
                    <a:pt x="205740" y="1028700"/>
                  </a:lnTo>
                  <a:cubicBezTo>
                    <a:pt x="92075" y="1028700"/>
                    <a:pt x="0" y="936625"/>
                    <a:pt x="0" y="822960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628775" y="4175674"/>
            <a:ext cx="381000" cy="381000"/>
            <a:chOff x="0" y="0"/>
            <a:chExt cx="508000" cy="508000"/>
          </a:xfrm>
        </p:grpSpPr>
        <p:sp>
          <p:nvSpPr>
            <p:cNvPr name="Freeform 22" id="22" descr="Ícone independente e substituível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38275" y="5071024"/>
            <a:ext cx="3434753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CONFIDENTIALITY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8275" y="5413924"/>
            <a:ext cx="2479834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Confidencialidade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28750" y="5956849"/>
            <a:ext cx="4432249" cy="28575"/>
            <a:chOff x="0" y="0"/>
            <a:chExt cx="5909666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09691" cy="38100"/>
            </a:xfrm>
            <a:custGeom>
              <a:avLst/>
              <a:gdLst/>
              <a:ahLst/>
              <a:cxnLst/>
              <a:rect r="r" b="b" t="t" l="l"/>
              <a:pathLst>
                <a:path h="38100" w="5909691">
                  <a:moveTo>
                    <a:pt x="0" y="0"/>
                  </a:moveTo>
                  <a:lnTo>
                    <a:pt x="5909691" y="0"/>
                  </a:lnTo>
                  <a:lnTo>
                    <a:pt x="590969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DBF6">
                <a:alpha val="4706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38275" y="6185449"/>
            <a:ext cx="4551521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Proteger informações contra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8275" y="6525968"/>
            <a:ext cx="4051459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acessos não autorizados.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542037" y="3589887"/>
            <a:ext cx="5203774" cy="5339801"/>
            <a:chOff x="0" y="0"/>
            <a:chExt cx="6938366" cy="71197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38390" cy="7119747"/>
            </a:xfrm>
            <a:custGeom>
              <a:avLst/>
              <a:gdLst/>
              <a:ahLst/>
              <a:cxnLst/>
              <a:rect r="r" b="b" t="t" l="l"/>
              <a:pathLst>
                <a:path h="7119747" w="6938390">
                  <a:moveTo>
                    <a:pt x="0" y="254508"/>
                  </a:moveTo>
                  <a:cubicBezTo>
                    <a:pt x="0" y="113919"/>
                    <a:pt x="113919" y="0"/>
                    <a:pt x="254508" y="0"/>
                  </a:cubicBezTo>
                  <a:lnTo>
                    <a:pt x="6683883" y="0"/>
                  </a:lnTo>
                  <a:cubicBezTo>
                    <a:pt x="6824472" y="0"/>
                    <a:pt x="6938390" y="113919"/>
                    <a:pt x="6938390" y="254508"/>
                  </a:cubicBezTo>
                  <a:lnTo>
                    <a:pt x="6938390" y="6865239"/>
                  </a:lnTo>
                  <a:cubicBezTo>
                    <a:pt x="6938390" y="7005828"/>
                    <a:pt x="6824472" y="7119747"/>
                    <a:pt x="6683883" y="7119747"/>
                  </a:cubicBezTo>
                  <a:lnTo>
                    <a:pt x="254508" y="7119747"/>
                  </a:lnTo>
                  <a:cubicBezTo>
                    <a:pt x="113919" y="7119747"/>
                    <a:pt x="0" y="7005828"/>
                    <a:pt x="0" y="6865239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932562" y="3980412"/>
            <a:ext cx="771525" cy="771525"/>
            <a:chOff x="0" y="0"/>
            <a:chExt cx="1028700" cy="1028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205740"/>
                  </a:moveTo>
                  <a:cubicBezTo>
                    <a:pt x="0" y="92075"/>
                    <a:pt x="92075" y="0"/>
                    <a:pt x="205740" y="0"/>
                  </a:cubicBezTo>
                  <a:lnTo>
                    <a:pt x="822960" y="0"/>
                  </a:lnTo>
                  <a:cubicBezTo>
                    <a:pt x="936625" y="0"/>
                    <a:pt x="1028700" y="92075"/>
                    <a:pt x="1028700" y="205740"/>
                  </a:cubicBezTo>
                  <a:lnTo>
                    <a:pt x="1028700" y="822960"/>
                  </a:lnTo>
                  <a:cubicBezTo>
                    <a:pt x="1028700" y="936625"/>
                    <a:pt x="936625" y="1028700"/>
                    <a:pt x="822960" y="1028700"/>
                  </a:cubicBezTo>
                  <a:lnTo>
                    <a:pt x="205740" y="1028700"/>
                  </a:lnTo>
                  <a:cubicBezTo>
                    <a:pt x="92075" y="1028700"/>
                    <a:pt x="0" y="936625"/>
                    <a:pt x="0" y="822960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127824" y="4175674"/>
            <a:ext cx="381000" cy="381000"/>
            <a:chOff x="0" y="0"/>
            <a:chExt cx="508000" cy="508000"/>
          </a:xfrm>
        </p:grpSpPr>
        <p:sp>
          <p:nvSpPr>
            <p:cNvPr name="Freeform 34" id="34" descr="Ícone independente e substituível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937324" y="5071024"/>
            <a:ext cx="2143296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INTEGRITY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37324" y="5413924"/>
            <a:ext cx="1658302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Integridade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927799" y="5956849"/>
            <a:ext cx="4432249" cy="28575"/>
            <a:chOff x="0" y="0"/>
            <a:chExt cx="5909666" cy="38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09691" cy="38100"/>
            </a:xfrm>
            <a:custGeom>
              <a:avLst/>
              <a:gdLst/>
              <a:ahLst/>
              <a:cxnLst/>
              <a:rect r="r" b="b" t="t" l="l"/>
              <a:pathLst>
                <a:path h="38100" w="5909691">
                  <a:moveTo>
                    <a:pt x="0" y="0"/>
                  </a:moveTo>
                  <a:lnTo>
                    <a:pt x="5909691" y="0"/>
                  </a:lnTo>
                  <a:lnTo>
                    <a:pt x="590969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DBF6">
                <a:alpha val="4706"/>
              </a:srgbClr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6937324" y="6185449"/>
            <a:ext cx="3849053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Preservar a correção e a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37324" y="6525968"/>
            <a:ext cx="4087178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confiabilidade dos dados.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041086" y="3589887"/>
            <a:ext cx="5203774" cy="5339801"/>
            <a:chOff x="0" y="0"/>
            <a:chExt cx="6938366" cy="71197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38390" cy="7119747"/>
            </a:xfrm>
            <a:custGeom>
              <a:avLst/>
              <a:gdLst/>
              <a:ahLst/>
              <a:cxnLst/>
              <a:rect r="r" b="b" t="t" l="l"/>
              <a:pathLst>
                <a:path h="7119747" w="6938390">
                  <a:moveTo>
                    <a:pt x="0" y="254508"/>
                  </a:moveTo>
                  <a:cubicBezTo>
                    <a:pt x="0" y="113919"/>
                    <a:pt x="113919" y="0"/>
                    <a:pt x="254508" y="0"/>
                  </a:cubicBezTo>
                  <a:lnTo>
                    <a:pt x="6683883" y="0"/>
                  </a:lnTo>
                  <a:cubicBezTo>
                    <a:pt x="6824472" y="0"/>
                    <a:pt x="6938390" y="113919"/>
                    <a:pt x="6938390" y="254508"/>
                  </a:cubicBezTo>
                  <a:lnTo>
                    <a:pt x="6938390" y="6865239"/>
                  </a:lnTo>
                  <a:cubicBezTo>
                    <a:pt x="6938390" y="7005828"/>
                    <a:pt x="6824472" y="7119747"/>
                    <a:pt x="6683883" y="7119747"/>
                  </a:cubicBezTo>
                  <a:lnTo>
                    <a:pt x="254508" y="7119747"/>
                  </a:lnTo>
                  <a:cubicBezTo>
                    <a:pt x="113919" y="7119747"/>
                    <a:pt x="0" y="7005828"/>
                    <a:pt x="0" y="6865239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431611" y="3980412"/>
            <a:ext cx="771525" cy="771525"/>
            <a:chOff x="0" y="0"/>
            <a:chExt cx="1028700" cy="1028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205740"/>
                  </a:moveTo>
                  <a:cubicBezTo>
                    <a:pt x="0" y="92075"/>
                    <a:pt x="92075" y="0"/>
                    <a:pt x="205740" y="0"/>
                  </a:cubicBezTo>
                  <a:lnTo>
                    <a:pt x="822960" y="0"/>
                  </a:lnTo>
                  <a:cubicBezTo>
                    <a:pt x="936625" y="0"/>
                    <a:pt x="1028700" y="92075"/>
                    <a:pt x="1028700" y="205740"/>
                  </a:cubicBezTo>
                  <a:lnTo>
                    <a:pt x="1028700" y="822960"/>
                  </a:lnTo>
                  <a:cubicBezTo>
                    <a:pt x="1028700" y="936625"/>
                    <a:pt x="936625" y="1028700"/>
                    <a:pt x="822960" y="1028700"/>
                  </a:cubicBezTo>
                  <a:lnTo>
                    <a:pt x="205740" y="1028700"/>
                  </a:lnTo>
                  <a:cubicBezTo>
                    <a:pt x="92075" y="1028700"/>
                    <a:pt x="0" y="936625"/>
                    <a:pt x="0" y="822960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626873" y="4175674"/>
            <a:ext cx="381000" cy="381000"/>
            <a:chOff x="0" y="0"/>
            <a:chExt cx="508000" cy="508000"/>
          </a:xfrm>
        </p:grpSpPr>
        <p:sp>
          <p:nvSpPr>
            <p:cNvPr name="Freeform 46" id="46" descr="Ícone independente e substituível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2436373" y="5071024"/>
            <a:ext cx="2789025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AVAILABILITY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36373" y="5413924"/>
            <a:ext cx="2122646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Disponibilidade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426848" y="5956849"/>
            <a:ext cx="4432249" cy="28575"/>
            <a:chOff x="0" y="0"/>
            <a:chExt cx="5909666" cy="381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09691" cy="38100"/>
            </a:xfrm>
            <a:custGeom>
              <a:avLst/>
              <a:gdLst/>
              <a:ahLst/>
              <a:cxnLst/>
              <a:rect r="r" b="b" t="t" l="l"/>
              <a:pathLst>
                <a:path h="38100" w="5909691">
                  <a:moveTo>
                    <a:pt x="0" y="0"/>
                  </a:moveTo>
                  <a:lnTo>
                    <a:pt x="5909691" y="0"/>
                  </a:lnTo>
                  <a:lnTo>
                    <a:pt x="590969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DBF6">
                <a:alpha val="4706"/>
              </a:srgbClr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2436373" y="6185449"/>
            <a:ext cx="5027771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Garantir acesso a informações e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6373" y="6525968"/>
            <a:ext cx="449199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serviços quando necessário.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7750" y="9296400"/>
            <a:ext cx="4444365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Os três pilares formam a base da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438650" y="9315450"/>
            <a:ext cx="2490435" cy="381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CYBERSECURITY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266412" y="9296400"/>
            <a:ext cx="3468053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 — segurança cibernética.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47750" y="9791700"/>
            <a:ext cx="152400" cy="152400"/>
            <a:chOff x="0" y="0"/>
            <a:chExt cx="203200" cy="203200"/>
          </a:xfrm>
        </p:grpSpPr>
        <p:sp>
          <p:nvSpPr>
            <p:cNvPr name="Freeform 57" id="57" descr="Ícone independente e substituível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276350" y="9744075"/>
            <a:ext cx="2658428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 Mecanismos de Segurança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649450" y="9744075"/>
            <a:ext cx="3444240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Semana da Computação · Nov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47750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7376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86" y="890588"/>
            <a:ext cx="628650" cy="28575"/>
            <a:chOff x="0" y="0"/>
            <a:chExt cx="8382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8200" cy="38100"/>
            </a:xfrm>
            <a:custGeom>
              <a:avLst/>
              <a:gdLst/>
              <a:ahLst/>
              <a:cxnLst/>
              <a:rect r="r" b="b" t="t" l="l"/>
              <a:pathLst>
                <a:path h="381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DCF7">
                <a:alpha val="35686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21411" y="762000"/>
            <a:ext cx="2491740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FERRAMENTAS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1123950"/>
            <a:ext cx="13372938" cy="96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2"/>
              </a:lnSpc>
            </a:pPr>
            <a:r>
              <a:rPr lang="en-US" sz="510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Principais mecanismos de proteção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2988" y="2370687"/>
            <a:ext cx="7953375" cy="3296098"/>
            <a:chOff x="0" y="0"/>
            <a:chExt cx="10604500" cy="43947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4500" cy="4394835"/>
            </a:xfrm>
            <a:custGeom>
              <a:avLst/>
              <a:gdLst/>
              <a:ahLst/>
              <a:cxnLst/>
              <a:rect r="r" b="b" t="t" l="l"/>
              <a:pathLst>
                <a:path h="4394835" w="10604500">
                  <a:moveTo>
                    <a:pt x="0" y="254762"/>
                  </a:moveTo>
                  <a:cubicBezTo>
                    <a:pt x="0" y="114046"/>
                    <a:pt x="114046" y="0"/>
                    <a:pt x="254762" y="0"/>
                  </a:cubicBezTo>
                  <a:lnTo>
                    <a:pt x="10349738" y="0"/>
                  </a:lnTo>
                  <a:cubicBezTo>
                    <a:pt x="10490454" y="0"/>
                    <a:pt x="10604500" y="114046"/>
                    <a:pt x="10604500" y="254762"/>
                  </a:cubicBezTo>
                  <a:lnTo>
                    <a:pt x="10604500" y="4140073"/>
                  </a:lnTo>
                  <a:cubicBezTo>
                    <a:pt x="10604500" y="4280789"/>
                    <a:pt x="10490454" y="4394835"/>
                    <a:pt x="10349738" y="4394835"/>
                  </a:cubicBezTo>
                  <a:lnTo>
                    <a:pt x="254762" y="4394835"/>
                  </a:lnTo>
                  <a:cubicBezTo>
                    <a:pt x="114046" y="4394835"/>
                    <a:pt x="0" y="4280789"/>
                    <a:pt x="0" y="4140073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33512" y="2761212"/>
            <a:ext cx="771525" cy="771525"/>
            <a:chOff x="0" y="0"/>
            <a:chExt cx="1028700" cy="1028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205740"/>
                  </a:moveTo>
                  <a:cubicBezTo>
                    <a:pt x="0" y="92075"/>
                    <a:pt x="92075" y="0"/>
                    <a:pt x="205740" y="0"/>
                  </a:cubicBezTo>
                  <a:lnTo>
                    <a:pt x="822960" y="0"/>
                  </a:lnTo>
                  <a:cubicBezTo>
                    <a:pt x="936625" y="0"/>
                    <a:pt x="1028700" y="92075"/>
                    <a:pt x="1028700" y="205740"/>
                  </a:cubicBezTo>
                  <a:lnTo>
                    <a:pt x="1028700" y="822960"/>
                  </a:lnTo>
                  <a:cubicBezTo>
                    <a:pt x="1028700" y="936625"/>
                    <a:pt x="936625" y="1028700"/>
                    <a:pt x="822960" y="1028700"/>
                  </a:cubicBezTo>
                  <a:lnTo>
                    <a:pt x="205740" y="1028700"/>
                  </a:lnTo>
                  <a:cubicBezTo>
                    <a:pt x="92075" y="1028700"/>
                    <a:pt x="0" y="936625"/>
                    <a:pt x="0" y="822960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628775" y="2956474"/>
            <a:ext cx="381000" cy="381000"/>
            <a:chOff x="0" y="0"/>
            <a:chExt cx="508000" cy="508000"/>
          </a:xfrm>
        </p:grpSpPr>
        <p:sp>
          <p:nvSpPr>
            <p:cNvPr name="Freeform 15" id="15" descr="Ícone independente e substituível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505075" y="2765974"/>
            <a:ext cx="34861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19375" y="2765974"/>
            <a:ext cx="300990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05075" y="3118399"/>
            <a:ext cx="3434753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STRONG PASSWORD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05075" y="3461299"/>
            <a:ext cx="1694021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Senha forte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05075" y="3975649"/>
            <a:ext cx="6301740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Dificulta o acesso indevido às contas.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91638" y="2370687"/>
            <a:ext cx="7953375" cy="3296098"/>
            <a:chOff x="0" y="0"/>
            <a:chExt cx="10604500" cy="43947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04500" cy="4394835"/>
            </a:xfrm>
            <a:custGeom>
              <a:avLst/>
              <a:gdLst/>
              <a:ahLst/>
              <a:cxnLst/>
              <a:rect r="r" b="b" t="t" l="l"/>
              <a:pathLst>
                <a:path h="4394835" w="10604500">
                  <a:moveTo>
                    <a:pt x="0" y="254762"/>
                  </a:moveTo>
                  <a:cubicBezTo>
                    <a:pt x="0" y="114046"/>
                    <a:pt x="114046" y="0"/>
                    <a:pt x="254762" y="0"/>
                  </a:cubicBezTo>
                  <a:lnTo>
                    <a:pt x="10349738" y="0"/>
                  </a:lnTo>
                  <a:cubicBezTo>
                    <a:pt x="10490454" y="0"/>
                    <a:pt x="10604500" y="114046"/>
                    <a:pt x="10604500" y="254762"/>
                  </a:cubicBezTo>
                  <a:lnTo>
                    <a:pt x="10604500" y="4140073"/>
                  </a:lnTo>
                  <a:cubicBezTo>
                    <a:pt x="10604500" y="4280789"/>
                    <a:pt x="10490454" y="4394835"/>
                    <a:pt x="10349738" y="4394835"/>
                  </a:cubicBezTo>
                  <a:lnTo>
                    <a:pt x="254762" y="4394835"/>
                  </a:lnTo>
                  <a:cubicBezTo>
                    <a:pt x="114046" y="4394835"/>
                    <a:pt x="0" y="4280789"/>
                    <a:pt x="0" y="4140073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682162" y="2761212"/>
            <a:ext cx="771525" cy="771525"/>
            <a:chOff x="0" y="0"/>
            <a:chExt cx="1028700" cy="1028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205740"/>
                  </a:moveTo>
                  <a:cubicBezTo>
                    <a:pt x="0" y="92075"/>
                    <a:pt x="92075" y="0"/>
                    <a:pt x="205740" y="0"/>
                  </a:cubicBezTo>
                  <a:lnTo>
                    <a:pt x="822960" y="0"/>
                  </a:lnTo>
                  <a:cubicBezTo>
                    <a:pt x="936625" y="0"/>
                    <a:pt x="1028700" y="92075"/>
                    <a:pt x="1028700" y="205740"/>
                  </a:cubicBezTo>
                  <a:lnTo>
                    <a:pt x="1028700" y="822960"/>
                  </a:lnTo>
                  <a:cubicBezTo>
                    <a:pt x="1028700" y="936625"/>
                    <a:pt x="936625" y="1028700"/>
                    <a:pt x="822960" y="1028700"/>
                  </a:cubicBezTo>
                  <a:lnTo>
                    <a:pt x="205740" y="1028700"/>
                  </a:lnTo>
                  <a:cubicBezTo>
                    <a:pt x="92075" y="1028700"/>
                    <a:pt x="0" y="936625"/>
                    <a:pt x="0" y="822960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877425" y="2956474"/>
            <a:ext cx="381000" cy="381000"/>
            <a:chOff x="0" y="0"/>
            <a:chExt cx="508000" cy="508000"/>
          </a:xfrm>
        </p:grpSpPr>
        <p:sp>
          <p:nvSpPr>
            <p:cNvPr name="Freeform 26" id="26" descr="Ícone independente e substituível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753725" y="2765974"/>
            <a:ext cx="34861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68025" y="2765974"/>
            <a:ext cx="336709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53725" y="3118399"/>
            <a:ext cx="6879012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TWO-FACTOR AUTHENTICATION (2FA)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53725" y="3461299"/>
            <a:ext cx="3991928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Autenticação em dois fatores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53725" y="3975649"/>
            <a:ext cx="6801803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Adiciona uma etapa extra de verificação.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42988" y="5962050"/>
            <a:ext cx="7953375" cy="3662963"/>
            <a:chOff x="0" y="0"/>
            <a:chExt cx="10604500" cy="48839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04500" cy="4883912"/>
            </a:xfrm>
            <a:custGeom>
              <a:avLst/>
              <a:gdLst/>
              <a:ahLst/>
              <a:cxnLst/>
              <a:rect r="r" b="b" t="t" l="l"/>
              <a:pathLst>
                <a:path h="4883912" w="10604500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10349865" y="0"/>
                  </a:lnTo>
                  <a:cubicBezTo>
                    <a:pt x="10490454" y="0"/>
                    <a:pt x="10604500" y="114046"/>
                    <a:pt x="10604500" y="254635"/>
                  </a:cubicBezTo>
                  <a:lnTo>
                    <a:pt x="10604500" y="4629277"/>
                  </a:lnTo>
                  <a:cubicBezTo>
                    <a:pt x="10604500" y="4769866"/>
                    <a:pt x="10490454" y="4883912"/>
                    <a:pt x="10349865" y="4883912"/>
                  </a:cubicBezTo>
                  <a:lnTo>
                    <a:pt x="254635" y="4883912"/>
                  </a:lnTo>
                  <a:cubicBezTo>
                    <a:pt x="114046" y="4883912"/>
                    <a:pt x="0" y="4769993"/>
                    <a:pt x="0" y="4629277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433512" y="6352575"/>
            <a:ext cx="771525" cy="771525"/>
            <a:chOff x="0" y="0"/>
            <a:chExt cx="1028700" cy="1028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205740"/>
                  </a:moveTo>
                  <a:cubicBezTo>
                    <a:pt x="0" y="92075"/>
                    <a:pt x="92075" y="0"/>
                    <a:pt x="205740" y="0"/>
                  </a:cubicBezTo>
                  <a:lnTo>
                    <a:pt x="822960" y="0"/>
                  </a:lnTo>
                  <a:cubicBezTo>
                    <a:pt x="936625" y="0"/>
                    <a:pt x="1028700" y="92075"/>
                    <a:pt x="1028700" y="205740"/>
                  </a:cubicBezTo>
                  <a:lnTo>
                    <a:pt x="1028700" y="822960"/>
                  </a:lnTo>
                  <a:cubicBezTo>
                    <a:pt x="1028700" y="936625"/>
                    <a:pt x="936625" y="1028700"/>
                    <a:pt x="822960" y="1028700"/>
                  </a:cubicBezTo>
                  <a:lnTo>
                    <a:pt x="205740" y="1028700"/>
                  </a:lnTo>
                  <a:cubicBezTo>
                    <a:pt x="92075" y="1028700"/>
                    <a:pt x="0" y="936625"/>
                    <a:pt x="0" y="822960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628775" y="6547837"/>
            <a:ext cx="381000" cy="381000"/>
            <a:chOff x="0" y="0"/>
            <a:chExt cx="508000" cy="508000"/>
          </a:xfrm>
        </p:grpSpPr>
        <p:sp>
          <p:nvSpPr>
            <p:cNvPr name="Freeform 37" id="37" descr="Ícone independente e substituível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2505075" y="6357337"/>
            <a:ext cx="34861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19375" y="6357337"/>
            <a:ext cx="336709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05075" y="6709762"/>
            <a:ext cx="2358542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ENCRYPTION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505075" y="7052662"/>
            <a:ext cx="1717834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Criptografia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05075" y="7567012"/>
            <a:ext cx="6313646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Transforma dados para que não sejam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05075" y="7933725"/>
            <a:ext cx="7825740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compreendidos por quem não tem autorização.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291638" y="5962050"/>
            <a:ext cx="7953375" cy="3662963"/>
            <a:chOff x="0" y="0"/>
            <a:chExt cx="10604500" cy="48839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04500" cy="4883912"/>
            </a:xfrm>
            <a:custGeom>
              <a:avLst/>
              <a:gdLst/>
              <a:ahLst/>
              <a:cxnLst/>
              <a:rect r="r" b="b" t="t" l="l"/>
              <a:pathLst>
                <a:path h="4883912" w="10604500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10349865" y="0"/>
                  </a:lnTo>
                  <a:cubicBezTo>
                    <a:pt x="10490454" y="0"/>
                    <a:pt x="10604500" y="114046"/>
                    <a:pt x="10604500" y="254635"/>
                  </a:cubicBezTo>
                  <a:lnTo>
                    <a:pt x="10604500" y="4629277"/>
                  </a:lnTo>
                  <a:cubicBezTo>
                    <a:pt x="10604500" y="4769866"/>
                    <a:pt x="10490454" y="4883912"/>
                    <a:pt x="10349865" y="4883912"/>
                  </a:cubicBezTo>
                  <a:lnTo>
                    <a:pt x="254635" y="4883912"/>
                  </a:lnTo>
                  <a:cubicBezTo>
                    <a:pt x="114046" y="4883912"/>
                    <a:pt x="0" y="4769993"/>
                    <a:pt x="0" y="4629277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682162" y="6352575"/>
            <a:ext cx="771525" cy="771525"/>
            <a:chOff x="0" y="0"/>
            <a:chExt cx="1028700" cy="10287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205740"/>
                  </a:moveTo>
                  <a:cubicBezTo>
                    <a:pt x="0" y="92075"/>
                    <a:pt x="92075" y="0"/>
                    <a:pt x="205740" y="0"/>
                  </a:cubicBezTo>
                  <a:lnTo>
                    <a:pt x="822960" y="0"/>
                  </a:lnTo>
                  <a:cubicBezTo>
                    <a:pt x="936625" y="0"/>
                    <a:pt x="1028700" y="92075"/>
                    <a:pt x="1028700" y="205740"/>
                  </a:cubicBezTo>
                  <a:lnTo>
                    <a:pt x="1028700" y="822960"/>
                  </a:lnTo>
                  <a:cubicBezTo>
                    <a:pt x="1028700" y="936625"/>
                    <a:pt x="936625" y="1028700"/>
                    <a:pt x="822960" y="1028700"/>
                  </a:cubicBezTo>
                  <a:lnTo>
                    <a:pt x="205740" y="1028700"/>
                  </a:lnTo>
                  <a:cubicBezTo>
                    <a:pt x="92075" y="1028700"/>
                    <a:pt x="0" y="936625"/>
                    <a:pt x="0" y="822960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877425" y="6547837"/>
            <a:ext cx="381000" cy="381000"/>
            <a:chOff x="0" y="0"/>
            <a:chExt cx="508000" cy="508000"/>
          </a:xfrm>
        </p:grpSpPr>
        <p:sp>
          <p:nvSpPr>
            <p:cNvPr name="Freeform 49" id="49" descr="Ícone independente e substituível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0753725" y="6357337"/>
            <a:ext cx="34861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868025" y="6357337"/>
            <a:ext cx="336709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753725" y="6709762"/>
            <a:ext cx="2143296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ANTIVIRUS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753725" y="7052662"/>
            <a:ext cx="1301115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Antivírus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753725" y="7567012"/>
            <a:ext cx="6396990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Detecta, bloqueia e remove programas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753725" y="7933725"/>
            <a:ext cx="1979771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maliciosos.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47750" y="9791700"/>
            <a:ext cx="152400" cy="152400"/>
            <a:chOff x="0" y="0"/>
            <a:chExt cx="203200" cy="203200"/>
          </a:xfrm>
        </p:grpSpPr>
        <p:sp>
          <p:nvSpPr>
            <p:cNvPr name="Freeform 57" id="57" descr="Ícone independente e substituível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276350" y="9744075"/>
            <a:ext cx="2658428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 Mecanismos de Segurança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649450" y="9744075"/>
            <a:ext cx="3444240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Semana da Computação · Nov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47750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7376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86" y="890588"/>
            <a:ext cx="628650" cy="28575"/>
            <a:chOff x="0" y="0"/>
            <a:chExt cx="8382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8200" cy="38100"/>
            </a:xfrm>
            <a:custGeom>
              <a:avLst/>
              <a:gdLst/>
              <a:ahLst/>
              <a:cxnLst/>
              <a:rect r="r" b="b" t="t" l="l"/>
              <a:pathLst>
                <a:path h="381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DCF7">
                <a:alpha val="35686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21411" y="762000"/>
            <a:ext cx="1646396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ATENÇÃO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1123950"/>
            <a:ext cx="11394081" cy="96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2"/>
              </a:lnSpc>
            </a:pPr>
            <a:r>
              <a:rPr lang="en-US" sz="510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Ameaças digitais do cotidiano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2988" y="2370687"/>
            <a:ext cx="4287288" cy="3674716"/>
            <a:chOff x="0" y="0"/>
            <a:chExt cx="5716384" cy="48996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6270" cy="4899533"/>
            </a:xfrm>
            <a:custGeom>
              <a:avLst/>
              <a:gdLst/>
              <a:ahLst/>
              <a:cxnLst/>
              <a:rect r="r" b="b" t="t" l="l"/>
              <a:pathLst>
                <a:path h="4899533" w="5716270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5461635" y="0"/>
                  </a:lnTo>
                  <a:cubicBezTo>
                    <a:pt x="5602351" y="0"/>
                    <a:pt x="5716270" y="114046"/>
                    <a:pt x="5716270" y="254635"/>
                  </a:cubicBezTo>
                  <a:lnTo>
                    <a:pt x="5716270" y="4644898"/>
                  </a:lnTo>
                  <a:cubicBezTo>
                    <a:pt x="5716270" y="4785614"/>
                    <a:pt x="5602224" y="4899533"/>
                    <a:pt x="5461635" y="4899533"/>
                  </a:cubicBezTo>
                  <a:lnTo>
                    <a:pt x="254635" y="4899533"/>
                  </a:lnTo>
                  <a:cubicBezTo>
                    <a:pt x="114046" y="4899660"/>
                    <a:pt x="0" y="4785614"/>
                    <a:pt x="0" y="4644898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57312" y="2685012"/>
            <a:ext cx="619125" cy="619125"/>
            <a:chOff x="0" y="0"/>
            <a:chExt cx="825500" cy="825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5500" cy="825500"/>
            </a:xfrm>
            <a:custGeom>
              <a:avLst/>
              <a:gdLst/>
              <a:ahLst/>
              <a:cxnLst/>
              <a:rect r="r" b="b" t="t" l="l"/>
              <a:pathLst>
                <a:path h="825500" w="825500">
                  <a:moveTo>
                    <a:pt x="0" y="206375"/>
                  </a:moveTo>
                  <a:cubicBezTo>
                    <a:pt x="0" y="92456"/>
                    <a:pt x="92456" y="0"/>
                    <a:pt x="206375" y="0"/>
                  </a:cubicBezTo>
                  <a:lnTo>
                    <a:pt x="619125" y="0"/>
                  </a:lnTo>
                  <a:cubicBezTo>
                    <a:pt x="733044" y="0"/>
                    <a:pt x="825500" y="92456"/>
                    <a:pt x="825500" y="206375"/>
                  </a:cubicBezTo>
                  <a:lnTo>
                    <a:pt x="825500" y="619125"/>
                  </a:lnTo>
                  <a:cubicBezTo>
                    <a:pt x="825500" y="733044"/>
                    <a:pt x="733044" y="825500"/>
                    <a:pt x="619125" y="825500"/>
                  </a:cubicBezTo>
                  <a:lnTo>
                    <a:pt x="206375" y="825500"/>
                  </a:lnTo>
                  <a:cubicBezTo>
                    <a:pt x="92456" y="825500"/>
                    <a:pt x="0" y="733044"/>
                    <a:pt x="0" y="619125"/>
                  </a:cubicBezTo>
                  <a:close/>
                </a:path>
              </a:pathLst>
            </a:custGeom>
            <a:solidFill>
              <a:srgbClr val="F85C5C">
                <a:alpha val="1961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14475" y="2842174"/>
            <a:ext cx="304800" cy="304800"/>
            <a:chOff x="0" y="0"/>
            <a:chExt cx="406400" cy="406400"/>
          </a:xfrm>
        </p:grpSpPr>
        <p:sp>
          <p:nvSpPr>
            <p:cNvPr name="Freeform 15" id="15" descr="Ícone independente e substituível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62075" y="3547024"/>
            <a:ext cx="192787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F75D5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PHISHING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2075" y="3994699"/>
            <a:ext cx="4313396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Mensagens ou páginas falsas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2075" y="4309024"/>
            <a:ext cx="3110865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para enganar e obter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2075" y="4623349"/>
            <a:ext cx="2015490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informações.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549351" y="2370687"/>
            <a:ext cx="4287288" cy="3674716"/>
            <a:chOff x="0" y="0"/>
            <a:chExt cx="5716384" cy="48996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6270" cy="4899533"/>
            </a:xfrm>
            <a:custGeom>
              <a:avLst/>
              <a:gdLst/>
              <a:ahLst/>
              <a:cxnLst/>
              <a:rect r="r" b="b" t="t" l="l"/>
              <a:pathLst>
                <a:path h="4899533" w="5716270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5461635" y="0"/>
                  </a:lnTo>
                  <a:cubicBezTo>
                    <a:pt x="5602351" y="0"/>
                    <a:pt x="5716270" y="114046"/>
                    <a:pt x="5716270" y="254635"/>
                  </a:cubicBezTo>
                  <a:lnTo>
                    <a:pt x="5716270" y="4644898"/>
                  </a:lnTo>
                  <a:cubicBezTo>
                    <a:pt x="5716270" y="4785614"/>
                    <a:pt x="5602224" y="4899533"/>
                    <a:pt x="5461635" y="4899533"/>
                  </a:cubicBezTo>
                  <a:lnTo>
                    <a:pt x="254635" y="4899533"/>
                  </a:lnTo>
                  <a:cubicBezTo>
                    <a:pt x="114046" y="4899660"/>
                    <a:pt x="0" y="4785614"/>
                    <a:pt x="0" y="4644898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863676" y="2685012"/>
            <a:ext cx="619125" cy="619125"/>
            <a:chOff x="0" y="0"/>
            <a:chExt cx="825500" cy="825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5500" cy="825500"/>
            </a:xfrm>
            <a:custGeom>
              <a:avLst/>
              <a:gdLst/>
              <a:ahLst/>
              <a:cxnLst/>
              <a:rect r="r" b="b" t="t" l="l"/>
              <a:pathLst>
                <a:path h="825500" w="825500">
                  <a:moveTo>
                    <a:pt x="0" y="206375"/>
                  </a:moveTo>
                  <a:cubicBezTo>
                    <a:pt x="0" y="92456"/>
                    <a:pt x="92456" y="0"/>
                    <a:pt x="206375" y="0"/>
                  </a:cubicBezTo>
                  <a:lnTo>
                    <a:pt x="619125" y="0"/>
                  </a:lnTo>
                  <a:cubicBezTo>
                    <a:pt x="733044" y="0"/>
                    <a:pt x="825500" y="92456"/>
                    <a:pt x="825500" y="206375"/>
                  </a:cubicBezTo>
                  <a:lnTo>
                    <a:pt x="825500" y="619125"/>
                  </a:lnTo>
                  <a:cubicBezTo>
                    <a:pt x="825500" y="733044"/>
                    <a:pt x="733044" y="825500"/>
                    <a:pt x="619125" y="825500"/>
                  </a:cubicBezTo>
                  <a:lnTo>
                    <a:pt x="206375" y="825500"/>
                  </a:lnTo>
                  <a:cubicBezTo>
                    <a:pt x="92456" y="825500"/>
                    <a:pt x="0" y="733044"/>
                    <a:pt x="0" y="619125"/>
                  </a:cubicBezTo>
                  <a:close/>
                </a:path>
              </a:pathLst>
            </a:custGeom>
            <a:solidFill>
              <a:srgbClr val="F85C5C">
                <a:alpha val="1961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020838" y="2842174"/>
            <a:ext cx="304800" cy="304800"/>
            <a:chOff x="0" y="0"/>
            <a:chExt cx="406400" cy="406400"/>
          </a:xfrm>
        </p:grpSpPr>
        <p:sp>
          <p:nvSpPr>
            <p:cNvPr name="Freeform 25" id="25" descr="Ícone independente e substituível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868438" y="3547024"/>
            <a:ext cx="1712624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F75D5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MALWARE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68438" y="3994699"/>
            <a:ext cx="3813334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Programas maliciosos que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68438" y="4309024"/>
            <a:ext cx="3920490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prejudicam dispositivos ou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68438" y="4623349"/>
            <a:ext cx="1134427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dados.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42988" y="6264478"/>
            <a:ext cx="4287288" cy="3360534"/>
            <a:chOff x="0" y="0"/>
            <a:chExt cx="5716384" cy="44807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16397" cy="4480814"/>
            </a:xfrm>
            <a:custGeom>
              <a:avLst/>
              <a:gdLst/>
              <a:ahLst/>
              <a:cxnLst/>
              <a:rect r="r" b="b" t="t" l="l"/>
              <a:pathLst>
                <a:path h="4480814" w="5716397">
                  <a:moveTo>
                    <a:pt x="0" y="254762"/>
                  </a:moveTo>
                  <a:cubicBezTo>
                    <a:pt x="0" y="114046"/>
                    <a:pt x="114046" y="0"/>
                    <a:pt x="254762" y="0"/>
                  </a:cubicBezTo>
                  <a:lnTo>
                    <a:pt x="5461635" y="0"/>
                  </a:lnTo>
                  <a:cubicBezTo>
                    <a:pt x="5602351" y="0"/>
                    <a:pt x="5716397" y="114046"/>
                    <a:pt x="5716397" y="254762"/>
                  </a:cubicBezTo>
                  <a:lnTo>
                    <a:pt x="5716397" y="4226052"/>
                  </a:lnTo>
                  <a:cubicBezTo>
                    <a:pt x="5716397" y="4366768"/>
                    <a:pt x="5602351" y="4480814"/>
                    <a:pt x="5461635" y="4480814"/>
                  </a:cubicBezTo>
                  <a:lnTo>
                    <a:pt x="254762" y="4480814"/>
                  </a:lnTo>
                  <a:cubicBezTo>
                    <a:pt x="114046" y="4480687"/>
                    <a:pt x="0" y="4366641"/>
                    <a:pt x="0" y="4226052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57312" y="6578803"/>
            <a:ext cx="619125" cy="619125"/>
            <a:chOff x="0" y="0"/>
            <a:chExt cx="825500" cy="825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5500" cy="825500"/>
            </a:xfrm>
            <a:custGeom>
              <a:avLst/>
              <a:gdLst/>
              <a:ahLst/>
              <a:cxnLst/>
              <a:rect r="r" b="b" t="t" l="l"/>
              <a:pathLst>
                <a:path h="825500" w="825500">
                  <a:moveTo>
                    <a:pt x="0" y="206375"/>
                  </a:moveTo>
                  <a:cubicBezTo>
                    <a:pt x="0" y="92456"/>
                    <a:pt x="92456" y="0"/>
                    <a:pt x="206375" y="0"/>
                  </a:cubicBezTo>
                  <a:lnTo>
                    <a:pt x="619125" y="0"/>
                  </a:lnTo>
                  <a:cubicBezTo>
                    <a:pt x="733044" y="0"/>
                    <a:pt x="825500" y="92456"/>
                    <a:pt x="825500" y="206375"/>
                  </a:cubicBezTo>
                  <a:lnTo>
                    <a:pt x="825500" y="619125"/>
                  </a:lnTo>
                  <a:cubicBezTo>
                    <a:pt x="825500" y="733044"/>
                    <a:pt x="733044" y="825500"/>
                    <a:pt x="619125" y="825500"/>
                  </a:cubicBezTo>
                  <a:lnTo>
                    <a:pt x="206375" y="825500"/>
                  </a:lnTo>
                  <a:cubicBezTo>
                    <a:pt x="92456" y="825500"/>
                    <a:pt x="0" y="733044"/>
                    <a:pt x="0" y="619125"/>
                  </a:cubicBezTo>
                  <a:close/>
                </a:path>
              </a:pathLst>
            </a:custGeom>
            <a:solidFill>
              <a:srgbClr val="F85C5C">
                <a:alpha val="1961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514475" y="6735966"/>
            <a:ext cx="304800" cy="304800"/>
            <a:chOff x="0" y="0"/>
            <a:chExt cx="406400" cy="406400"/>
          </a:xfrm>
        </p:grpSpPr>
        <p:sp>
          <p:nvSpPr>
            <p:cNvPr name="Freeform 35" id="35" descr="Ícone independente e substituível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362075" y="7440816"/>
            <a:ext cx="3219507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F75D5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WEAK PASSWORDS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62075" y="7888491"/>
            <a:ext cx="4218146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Senhas fracas ou previsíveis.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549351" y="6264478"/>
            <a:ext cx="4287288" cy="3360534"/>
            <a:chOff x="0" y="0"/>
            <a:chExt cx="5716384" cy="44807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16397" cy="4480814"/>
            </a:xfrm>
            <a:custGeom>
              <a:avLst/>
              <a:gdLst/>
              <a:ahLst/>
              <a:cxnLst/>
              <a:rect r="r" b="b" t="t" l="l"/>
              <a:pathLst>
                <a:path h="4480814" w="5716397">
                  <a:moveTo>
                    <a:pt x="0" y="254762"/>
                  </a:moveTo>
                  <a:cubicBezTo>
                    <a:pt x="0" y="114046"/>
                    <a:pt x="114046" y="0"/>
                    <a:pt x="254762" y="0"/>
                  </a:cubicBezTo>
                  <a:lnTo>
                    <a:pt x="5461635" y="0"/>
                  </a:lnTo>
                  <a:cubicBezTo>
                    <a:pt x="5602351" y="0"/>
                    <a:pt x="5716397" y="114046"/>
                    <a:pt x="5716397" y="254762"/>
                  </a:cubicBezTo>
                  <a:lnTo>
                    <a:pt x="5716397" y="4226052"/>
                  </a:lnTo>
                  <a:cubicBezTo>
                    <a:pt x="5716397" y="4366768"/>
                    <a:pt x="5602351" y="4480814"/>
                    <a:pt x="5461635" y="4480814"/>
                  </a:cubicBezTo>
                  <a:lnTo>
                    <a:pt x="254762" y="4480814"/>
                  </a:lnTo>
                  <a:cubicBezTo>
                    <a:pt x="114046" y="4480687"/>
                    <a:pt x="0" y="4366641"/>
                    <a:pt x="0" y="4226052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5863676" y="6578803"/>
            <a:ext cx="619125" cy="619125"/>
            <a:chOff x="0" y="0"/>
            <a:chExt cx="825500" cy="825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5500" cy="825500"/>
            </a:xfrm>
            <a:custGeom>
              <a:avLst/>
              <a:gdLst/>
              <a:ahLst/>
              <a:cxnLst/>
              <a:rect r="r" b="b" t="t" l="l"/>
              <a:pathLst>
                <a:path h="825500" w="825500">
                  <a:moveTo>
                    <a:pt x="0" y="206375"/>
                  </a:moveTo>
                  <a:cubicBezTo>
                    <a:pt x="0" y="92456"/>
                    <a:pt x="92456" y="0"/>
                    <a:pt x="206375" y="0"/>
                  </a:cubicBezTo>
                  <a:lnTo>
                    <a:pt x="619125" y="0"/>
                  </a:lnTo>
                  <a:cubicBezTo>
                    <a:pt x="733044" y="0"/>
                    <a:pt x="825500" y="92456"/>
                    <a:pt x="825500" y="206375"/>
                  </a:cubicBezTo>
                  <a:lnTo>
                    <a:pt x="825500" y="619125"/>
                  </a:lnTo>
                  <a:cubicBezTo>
                    <a:pt x="825500" y="733044"/>
                    <a:pt x="733044" y="825500"/>
                    <a:pt x="619125" y="825500"/>
                  </a:cubicBezTo>
                  <a:lnTo>
                    <a:pt x="206375" y="825500"/>
                  </a:lnTo>
                  <a:cubicBezTo>
                    <a:pt x="92456" y="825500"/>
                    <a:pt x="0" y="733044"/>
                    <a:pt x="0" y="619125"/>
                  </a:cubicBezTo>
                  <a:close/>
                </a:path>
              </a:pathLst>
            </a:custGeom>
            <a:solidFill>
              <a:srgbClr val="F85C5C">
                <a:alpha val="1961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020838" y="6735966"/>
            <a:ext cx="304800" cy="304800"/>
            <a:chOff x="0" y="0"/>
            <a:chExt cx="406400" cy="406400"/>
          </a:xfrm>
        </p:grpSpPr>
        <p:sp>
          <p:nvSpPr>
            <p:cNvPr name="Freeform 43" id="43" descr="Ícone independente e substituível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5868438" y="7440816"/>
            <a:ext cx="3649999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F75D59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SUSPICIOUS LINKS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68438" y="7888491"/>
            <a:ext cx="4515803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Links que podem levar a golpes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868438" y="8202816"/>
            <a:ext cx="3325178" cy="41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ou páginas maliciosas.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208123" y="2370687"/>
            <a:ext cx="7036889" cy="6449463"/>
            <a:chOff x="0" y="0"/>
            <a:chExt cx="9382519" cy="85992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82506" cy="8599298"/>
            </a:xfrm>
            <a:custGeom>
              <a:avLst/>
              <a:gdLst/>
              <a:ahLst/>
              <a:cxnLst/>
              <a:rect r="r" b="b" t="t" l="l"/>
              <a:pathLst>
                <a:path h="8599298" w="9382506">
                  <a:moveTo>
                    <a:pt x="0" y="254381"/>
                  </a:moveTo>
                  <a:cubicBezTo>
                    <a:pt x="0" y="113919"/>
                    <a:pt x="113919" y="0"/>
                    <a:pt x="254381" y="0"/>
                  </a:cubicBezTo>
                  <a:lnTo>
                    <a:pt x="9128125" y="0"/>
                  </a:lnTo>
                  <a:cubicBezTo>
                    <a:pt x="9268587" y="0"/>
                    <a:pt x="9382506" y="113919"/>
                    <a:pt x="9382506" y="254381"/>
                  </a:cubicBezTo>
                  <a:lnTo>
                    <a:pt x="9382506" y="8344916"/>
                  </a:lnTo>
                  <a:cubicBezTo>
                    <a:pt x="9382506" y="8485378"/>
                    <a:pt x="9268587" y="8599298"/>
                    <a:pt x="9128125" y="8599298"/>
                  </a:cubicBezTo>
                  <a:lnTo>
                    <a:pt x="254381" y="8599298"/>
                  </a:lnTo>
                  <a:cubicBezTo>
                    <a:pt x="113919" y="8599297"/>
                    <a:pt x="0" y="8485378"/>
                    <a:pt x="0" y="8344916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0489111" y="2570712"/>
            <a:ext cx="1979771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Caixa de entrada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4992502" y="2532612"/>
            <a:ext cx="1976285" cy="333375"/>
            <a:chOff x="0" y="0"/>
            <a:chExt cx="2635047" cy="4445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34996" cy="444500"/>
            </a:xfrm>
            <a:custGeom>
              <a:avLst/>
              <a:gdLst/>
              <a:ahLst/>
              <a:cxnLst/>
              <a:rect r="r" b="b" t="t" l="l"/>
              <a:pathLst>
                <a:path h="444500" w="2634996">
                  <a:moveTo>
                    <a:pt x="0" y="222250"/>
                  </a:moveTo>
                  <a:cubicBezTo>
                    <a:pt x="0" y="99568"/>
                    <a:pt x="99568" y="0"/>
                    <a:pt x="222250" y="0"/>
                  </a:cubicBezTo>
                  <a:lnTo>
                    <a:pt x="2412746" y="0"/>
                  </a:lnTo>
                  <a:cubicBezTo>
                    <a:pt x="2535428" y="0"/>
                    <a:pt x="2634996" y="99568"/>
                    <a:pt x="2634996" y="222250"/>
                  </a:cubicBezTo>
                  <a:cubicBezTo>
                    <a:pt x="2634996" y="344932"/>
                    <a:pt x="2535555" y="444500"/>
                    <a:pt x="2412746" y="444500"/>
                  </a:cubicBezTo>
                  <a:lnTo>
                    <a:pt x="222250" y="444500"/>
                  </a:lnTo>
                  <a:cubicBezTo>
                    <a:pt x="99568" y="444500"/>
                    <a:pt x="0" y="344932"/>
                    <a:pt x="0" y="222250"/>
                  </a:cubicBez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509" r="-1" b="-65509"/>
              </a:stretch>
            </a:blipFill>
            <a:ln w="9525" cap="sq">
              <a:solidFill>
                <a:srgbClr val="F75D59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5121090" y="2584999"/>
            <a:ext cx="2354637" cy="30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F75D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EXEMPLO FICTÍCIO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89111" y="3289849"/>
            <a:ext cx="4051459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De: suporte@banc0-seguro.exemplo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489111" y="3699424"/>
            <a:ext cx="6408896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 b="true">
                <a:solidFill>
                  <a:srgbClr val="EFF6FB"/>
                </a:solidFill>
                <a:latin typeface="Arimo Bold"/>
                <a:ea typeface="Arimo Bold"/>
                <a:cs typeface="Arimo Bold"/>
                <a:sym typeface="Arimo Bold"/>
              </a:rPr>
              <a:t>URGENTE: sua conta será bloqueada hoje!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489111" y="4223299"/>
            <a:ext cx="7158990" cy="37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75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Clique no botão abaixo e confirme sua senha para evitar o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489111" y="4523337"/>
            <a:ext cx="1324927" cy="37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575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bloqueio.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0479586" y="4966249"/>
            <a:ext cx="1971675" cy="533400"/>
            <a:chOff x="0" y="0"/>
            <a:chExt cx="2628900" cy="711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628900" cy="711200"/>
            </a:xfrm>
            <a:custGeom>
              <a:avLst/>
              <a:gdLst/>
              <a:ahLst/>
              <a:cxnLst/>
              <a:rect r="r" b="b" t="t" l="l"/>
              <a:pathLst>
                <a:path h="711200" w="2628900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2470912" y="0"/>
                  </a:lnTo>
                  <a:cubicBezTo>
                    <a:pt x="2558161" y="0"/>
                    <a:pt x="2628900" y="70739"/>
                    <a:pt x="2628900" y="157988"/>
                  </a:cubicBezTo>
                  <a:lnTo>
                    <a:pt x="2628900" y="553212"/>
                  </a:lnTo>
                  <a:cubicBezTo>
                    <a:pt x="2628900" y="640461"/>
                    <a:pt x="2558161" y="711200"/>
                    <a:pt x="2470912" y="711200"/>
                  </a:cubicBezTo>
                  <a:lnTo>
                    <a:pt x="157988" y="711200"/>
                  </a:lnTo>
                  <a:cubicBezTo>
                    <a:pt x="70739" y="711200"/>
                    <a:pt x="0" y="640461"/>
                    <a:pt x="0" y="553212"/>
                  </a:cubicBezTo>
                  <a:close/>
                </a:path>
              </a:pathLst>
            </a:custGeom>
            <a:solidFill>
              <a:srgbClr val="F75C58">
                <a:alpha val="6275"/>
              </a:srgbClr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0717711" y="5090074"/>
            <a:ext cx="2075021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 b="true">
                <a:solidFill>
                  <a:srgbClr val="EFF6FB"/>
                </a:solidFill>
                <a:latin typeface="Arimo Bold"/>
                <a:ea typeface="Arimo Bold"/>
                <a:cs typeface="Arimo Bold"/>
                <a:sym typeface="Arimo Bold"/>
              </a:rPr>
              <a:t>Confirmar agora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0489111" y="5797306"/>
            <a:ext cx="190500" cy="190500"/>
            <a:chOff x="0" y="0"/>
            <a:chExt cx="254000" cy="254000"/>
          </a:xfrm>
        </p:grpSpPr>
        <p:sp>
          <p:nvSpPr>
            <p:cNvPr name="Freeform 61" id="61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0793911" y="5747299"/>
            <a:ext cx="4099084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"/>
              </a:lnSpc>
            </a:pPr>
            <a:r>
              <a:rPr lang="en-US" sz="1425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Remetente com endereço estranho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0489111" y="6144968"/>
            <a:ext cx="190500" cy="190500"/>
            <a:chOff x="0" y="0"/>
            <a:chExt cx="254000" cy="254000"/>
          </a:xfrm>
        </p:grpSpPr>
        <p:sp>
          <p:nvSpPr>
            <p:cNvPr name="Freeform 64" id="64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0793911" y="6094962"/>
            <a:ext cx="309895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"/>
              </a:lnSpc>
            </a:pPr>
            <a:r>
              <a:rPr lang="en-US" sz="1425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Tom de urgência e ameaça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0489111" y="6492631"/>
            <a:ext cx="190500" cy="190500"/>
            <a:chOff x="0" y="0"/>
            <a:chExt cx="254000" cy="254000"/>
          </a:xfrm>
        </p:grpSpPr>
        <p:sp>
          <p:nvSpPr>
            <p:cNvPr name="Freeform 67" id="67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0793911" y="6442624"/>
            <a:ext cx="3134678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"/>
              </a:lnSpc>
            </a:pPr>
            <a:r>
              <a:rPr lang="en-US" sz="1425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Pede senha por mensagem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212886" y="9024937"/>
            <a:ext cx="4372928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Muitas ameaças exploram tanto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546636" y="9024937"/>
            <a:ext cx="2158365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falhas técnicas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108736" y="9024937"/>
            <a:ext cx="1491615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 quanto a 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137436" y="9024937"/>
            <a:ext cx="1205865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falta de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212886" y="9313069"/>
            <a:ext cx="1253490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atenção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051086" y="9313069"/>
            <a:ext cx="1967865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 dos usuários.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047750" y="9791700"/>
            <a:ext cx="152400" cy="152400"/>
            <a:chOff x="0" y="0"/>
            <a:chExt cx="203200" cy="203200"/>
          </a:xfrm>
        </p:grpSpPr>
        <p:sp>
          <p:nvSpPr>
            <p:cNvPr name="Freeform 76" id="76" descr="Ícone independente e substituível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276350" y="9744075"/>
            <a:ext cx="2658428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 Mecanismos de Segurança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649450" y="9744075"/>
            <a:ext cx="3444240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Semana da Computação · Nov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47750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7376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86" y="890588"/>
            <a:ext cx="628650" cy="28575"/>
            <a:chOff x="0" y="0"/>
            <a:chExt cx="8382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8200" cy="38100"/>
            </a:xfrm>
            <a:custGeom>
              <a:avLst/>
              <a:gdLst/>
              <a:ahLst/>
              <a:cxnLst/>
              <a:rect r="r" b="b" t="t" l="l"/>
              <a:pathLst>
                <a:path h="381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DCF7">
                <a:alpha val="35686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21411" y="762000"/>
            <a:ext cx="3146584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EXEMPLO PRÁTICO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1123950"/>
            <a:ext cx="11276324" cy="96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2"/>
              </a:lnSpc>
            </a:pPr>
            <a:r>
              <a:rPr lang="en-US" sz="510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Como aumentar a segurança?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2988" y="2370687"/>
            <a:ext cx="7953375" cy="4905375"/>
            <a:chOff x="0" y="0"/>
            <a:chExt cx="10604500" cy="6540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4500" cy="6540500"/>
            </a:xfrm>
            <a:custGeom>
              <a:avLst/>
              <a:gdLst/>
              <a:ahLst/>
              <a:cxnLst/>
              <a:rect r="r" b="b" t="t" l="l"/>
              <a:pathLst>
                <a:path h="6540500" w="10604500">
                  <a:moveTo>
                    <a:pt x="0" y="254508"/>
                  </a:moveTo>
                  <a:cubicBezTo>
                    <a:pt x="0" y="113919"/>
                    <a:pt x="113919" y="0"/>
                    <a:pt x="254508" y="0"/>
                  </a:cubicBezTo>
                  <a:lnTo>
                    <a:pt x="10349992" y="0"/>
                  </a:lnTo>
                  <a:cubicBezTo>
                    <a:pt x="10490581" y="0"/>
                    <a:pt x="10604500" y="113919"/>
                    <a:pt x="10604500" y="254508"/>
                  </a:cubicBezTo>
                  <a:lnTo>
                    <a:pt x="10604500" y="6285992"/>
                  </a:lnTo>
                  <a:cubicBezTo>
                    <a:pt x="10604500" y="6426581"/>
                    <a:pt x="10490581" y="6540500"/>
                    <a:pt x="10349992" y="6540500"/>
                  </a:cubicBezTo>
                  <a:lnTo>
                    <a:pt x="254508" y="6540500"/>
                  </a:lnTo>
                  <a:cubicBezTo>
                    <a:pt x="113919" y="6540500"/>
                    <a:pt x="0" y="6426581"/>
                    <a:pt x="0" y="6285992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F75D59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38275" y="2765974"/>
            <a:ext cx="1813084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SITUAÇÃO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24150" y="2765974"/>
            <a:ext cx="408146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8275" y="3099349"/>
            <a:ext cx="4622959" cy="56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700" b="true">
                <a:solidFill>
                  <a:srgbClr val="F75D59"/>
                </a:solidFill>
                <a:latin typeface="Arimo Bold"/>
                <a:ea typeface="Arimo Bold"/>
                <a:cs typeface="Arimo Bold"/>
                <a:sym typeface="Arimo Bold"/>
              </a:rPr>
              <a:t>Proteção insuficiente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33512" y="3828012"/>
            <a:ext cx="7172325" cy="704850"/>
            <a:chOff x="0" y="0"/>
            <a:chExt cx="9563100" cy="939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63100" cy="939800"/>
            </a:xfrm>
            <a:custGeom>
              <a:avLst/>
              <a:gdLst/>
              <a:ahLst/>
              <a:cxnLst/>
              <a:rect r="r" b="b" t="t" l="l"/>
              <a:pathLst>
                <a:path h="939800" w="9563100">
                  <a:moveTo>
                    <a:pt x="0" y="205994"/>
                  </a:moveTo>
                  <a:cubicBezTo>
                    <a:pt x="0" y="92202"/>
                    <a:pt x="92202" y="0"/>
                    <a:pt x="205994" y="0"/>
                  </a:cubicBezTo>
                  <a:lnTo>
                    <a:pt x="9357106" y="0"/>
                  </a:lnTo>
                  <a:cubicBezTo>
                    <a:pt x="9470898" y="0"/>
                    <a:pt x="9563100" y="92202"/>
                    <a:pt x="9563100" y="205994"/>
                  </a:cubicBezTo>
                  <a:lnTo>
                    <a:pt x="9563100" y="733806"/>
                  </a:lnTo>
                  <a:cubicBezTo>
                    <a:pt x="9563100" y="847598"/>
                    <a:pt x="9470898" y="939800"/>
                    <a:pt x="9357106" y="939800"/>
                  </a:cubicBezTo>
                  <a:lnTo>
                    <a:pt x="205994" y="939800"/>
                  </a:lnTo>
                  <a:cubicBezTo>
                    <a:pt x="92202" y="939800"/>
                    <a:pt x="0" y="847598"/>
                    <a:pt x="0" y="733806"/>
                  </a:cubicBezTo>
                  <a:close/>
                </a:path>
              </a:pathLst>
            </a:custGeom>
            <a:solidFill>
              <a:srgbClr val="010515"/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76400" y="4066137"/>
            <a:ext cx="228600" cy="228600"/>
            <a:chOff x="0" y="0"/>
            <a:chExt cx="304800" cy="304800"/>
          </a:xfrm>
        </p:grpSpPr>
        <p:sp>
          <p:nvSpPr>
            <p:cNvPr name="Freeform 18" id="18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7400" y="4013749"/>
            <a:ext cx="134874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123456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28750" y="4632874"/>
            <a:ext cx="1390650" cy="95250"/>
            <a:chOff x="0" y="0"/>
            <a:chExt cx="1854200" cy="12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54200" cy="127000"/>
            </a:xfrm>
            <a:custGeom>
              <a:avLst/>
              <a:gdLst/>
              <a:ahLst/>
              <a:cxnLst/>
              <a:rect r="r" b="b" t="t" l="l"/>
              <a:pathLst>
                <a:path h="127000" w="18542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790700" y="0"/>
                  </a:lnTo>
                  <a:cubicBezTo>
                    <a:pt x="1825752" y="0"/>
                    <a:pt x="1854200" y="28448"/>
                    <a:pt x="1854200" y="63500"/>
                  </a:cubicBezTo>
                  <a:cubicBezTo>
                    <a:pt x="1854200" y="98552"/>
                    <a:pt x="1825752" y="127000"/>
                    <a:pt x="1790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F75D5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876550" y="4632874"/>
            <a:ext cx="1390650" cy="95250"/>
            <a:chOff x="0" y="0"/>
            <a:chExt cx="1854200" cy="12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54200" cy="127000"/>
            </a:xfrm>
            <a:custGeom>
              <a:avLst/>
              <a:gdLst/>
              <a:ahLst/>
              <a:cxnLst/>
              <a:rect r="r" b="b" t="t" l="l"/>
              <a:pathLst>
                <a:path h="127000" w="18542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790700" y="0"/>
                  </a:lnTo>
                  <a:cubicBezTo>
                    <a:pt x="1825752" y="0"/>
                    <a:pt x="1854200" y="28448"/>
                    <a:pt x="1854200" y="63500"/>
                  </a:cubicBezTo>
                  <a:cubicBezTo>
                    <a:pt x="1854200" y="98552"/>
                    <a:pt x="1825752" y="127000"/>
                    <a:pt x="1790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12DBF6">
                <a:alpha val="4706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324350" y="4632874"/>
            <a:ext cx="1390650" cy="95250"/>
            <a:chOff x="0" y="0"/>
            <a:chExt cx="1854200" cy="12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54200" cy="127000"/>
            </a:xfrm>
            <a:custGeom>
              <a:avLst/>
              <a:gdLst/>
              <a:ahLst/>
              <a:cxnLst/>
              <a:rect r="r" b="b" t="t" l="l"/>
              <a:pathLst>
                <a:path h="127000" w="18542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790700" y="0"/>
                  </a:lnTo>
                  <a:cubicBezTo>
                    <a:pt x="1825752" y="0"/>
                    <a:pt x="1854200" y="28448"/>
                    <a:pt x="1854200" y="63500"/>
                  </a:cubicBezTo>
                  <a:cubicBezTo>
                    <a:pt x="1854200" y="98552"/>
                    <a:pt x="1825752" y="127000"/>
                    <a:pt x="1790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12DBF6">
                <a:alpha val="4706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772150" y="4632874"/>
            <a:ext cx="1390650" cy="95250"/>
            <a:chOff x="0" y="0"/>
            <a:chExt cx="1854200" cy="12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54200" cy="127000"/>
            </a:xfrm>
            <a:custGeom>
              <a:avLst/>
              <a:gdLst/>
              <a:ahLst/>
              <a:cxnLst/>
              <a:rect r="r" b="b" t="t" l="l"/>
              <a:pathLst>
                <a:path h="127000" w="18542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790700" y="0"/>
                  </a:lnTo>
                  <a:cubicBezTo>
                    <a:pt x="1825752" y="0"/>
                    <a:pt x="1854200" y="28448"/>
                    <a:pt x="1854200" y="63500"/>
                  </a:cubicBezTo>
                  <a:cubicBezTo>
                    <a:pt x="1854200" y="98552"/>
                    <a:pt x="1825752" y="127000"/>
                    <a:pt x="1790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12DBF6">
                <a:alpha val="4706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19950" y="4632874"/>
            <a:ext cx="1390650" cy="95250"/>
            <a:chOff x="0" y="0"/>
            <a:chExt cx="1854200" cy="127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54200" cy="127000"/>
            </a:xfrm>
            <a:custGeom>
              <a:avLst/>
              <a:gdLst/>
              <a:ahLst/>
              <a:cxnLst/>
              <a:rect r="r" b="b" t="t" l="l"/>
              <a:pathLst>
                <a:path h="127000" w="18542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790700" y="0"/>
                  </a:lnTo>
                  <a:cubicBezTo>
                    <a:pt x="1825752" y="0"/>
                    <a:pt x="1854200" y="28448"/>
                    <a:pt x="1854200" y="63500"/>
                  </a:cubicBezTo>
                  <a:cubicBezTo>
                    <a:pt x="1854200" y="98552"/>
                    <a:pt x="1825752" y="127000"/>
                    <a:pt x="1790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12DBF6">
                <a:alpha val="4706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38275" y="4794799"/>
            <a:ext cx="177736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Senha fictícia ·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95575" y="4794799"/>
            <a:ext cx="3348990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Weak Password — Senha fraca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28750" y="5347249"/>
            <a:ext cx="400050" cy="400050"/>
            <a:chOff x="0" y="0"/>
            <a:chExt cx="53340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F55F5A">
                <a:alpha val="3922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14475" y="5432974"/>
            <a:ext cx="228600" cy="228600"/>
            <a:chOff x="0" y="0"/>
            <a:chExt cx="304800" cy="304800"/>
          </a:xfrm>
        </p:grpSpPr>
        <p:sp>
          <p:nvSpPr>
            <p:cNvPr name="Freeform 35" id="35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971675" y="5361537"/>
            <a:ext cx="3753803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Senha curta e previsível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28750" y="5918749"/>
            <a:ext cx="400050" cy="400050"/>
            <a:chOff x="0" y="0"/>
            <a:chExt cx="53340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F55F5A">
                <a:alpha val="3922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14475" y="6004474"/>
            <a:ext cx="228600" cy="228600"/>
            <a:chOff x="0" y="0"/>
            <a:chExt cx="304800" cy="304800"/>
          </a:xfrm>
        </p:grpSpPr>
        <p:sp>
          <p:nvSpPr>
            <p:cNvPr name="Freeform 40" id="40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971675" y="5933037"/>
            <a:ext cx="400383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Sem verificação adicional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428750" y="6490249"/>
            <a:ext cx="400050" cy="400050"/>
            <a:chOff x="0" y="0"/>
            <a:chExt cx="533400" cy="533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F55F5A">
                <a:alpha val="392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14475" y="6575974"/>
            <a:ext cx="228600" cy="228600"/>
            <a:chOff x="0" y="0"/>
            <a:chExt cx="304800" cy="304800"/>
          </a:xfrm>
        </p:grpSpPr>
        <p:sp>
          <p:nvSpPr>
            <p:cNvPr name="Freeform 45" id="45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971675" y="6504537"/>
            <a:ext cx="5742146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Maior exposição a acessos indevidos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291638" y="2370687"/>
            <a:ext cx="7953375" cy="4905375"/>
            <a:chOff x="0" y="0"/>
            <a:chExt cx="10604500" cy="6540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4500" cy="6540500"/>
            </a:xfrm>
            <a:custGeom>
              <a:avLst/>
              <a:gdLst/>
              <a:ahLst/>
              <a:cxnLst/>
              <a:rect r="r" b="b" t="t" l="l"/>
              <a:pathLst>
                <a:path h="6540500" w="10604500">
                  <a:moveTo>
                    <a:pt x="0" y="254508"/>
                  </a:moveTo>
                  <a:cubicBezTo>
                    <a:pt x="0" y="113919"/>
                    <a:pt x="113919" y="0"/>
                    <a:pt x="254508" y="0"/>
                  </a:cubicBezTo>
                  <a:lnTo>
                    <a:pt x="10349992" y="0"/>
                  </a:lnTo>
                  <a:cubicBezTo>
                    <a:pt x="10490581" y="0"/>
                    <a:pt x="10604500" y="113919"/>
                    <a:pt x="10604500" y="254508"/>
                  </a:cubicBezTo>
                  <a:lnTo>
                    <a:pt x="10604500" y="6285992"/>
                  </a:lnTo>
                  <a:cubicBezTo>
                    <a:pt x="10604500" y="6426581"/>
                    <a:pt x="10490581" y="6540500"/>
                    <a:pt x="10349992" y="6540500"/>
                  </a:cubicBezTo>
                  <a:lnTo>
                    <a:pt x="254508" y="6540500"/>
                  </a:lnTo>
                  <a:cubicBezTo>
                    <a:pt x="113919" y="6540500"/>
                    <a:pt x="0" y="6426581"/>
                    <a:pt x="0" y="6285992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3AD693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9686925" y="2765974"/>
            <a:ext cx="1813084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SITUAÇÃO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972800" y="2765974"/>
            <a:ext cx="408146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B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686925" y="3099349"/>
            <a:ext cx="4182428" cy="56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700" b="true">
                <a:solidFill>
                  <a:srgbClr val="3AD693"/>
                </a:solidFill>
                <a:latin typeface="Arimo Bold"/>
                <a:ea typeface="Arimo Bold"/>
                <a:cs typeface="Arimo Bold"/>
                <a:sym typeface="Arimo Bold"/>
              </a:rPr>
              <a:t>Proteção reforçada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682162" y="3828012"/>
            <a:ext cx="7172325" cy="704850"/>
            <a:chOff x="0" y="0"/>
            <a:chExt cx="9563100" cy="939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63100" cy="939800"/>
            </a:xfrm>
            <a:custGeom>
              <a:avLst/>
              <a:gdLst/>
              <a:ahLst/>
              <a:cxnLst/>
              <a:rect r="r" b="b" t="t" l="l"/>
              <a:pathLst>
                <a:path h="939800" w="9563100">
                  <a:moveTo>
                    <a:pt x="0" y="205994"/>
                  </a:moveTo>
                  <a:cubicBezTo>
                    <a:pt x="0" y="92202"/>
                    <a:pt x="92202" y="0"/>
                    <a:pt x="205994" y="0"/>
                  </a:cubicBezTo>
                  <a:lnTo>
                    <a:pt x="9357106" y="0"/>
                  </a:lnTo>
                  <a:cubicBezTo>
                    <a:pt x="9470898" y="0"/>
                    <a:pt x="9563100" y="92202"/>
                    <a:pt x="9563100" y="205994"/>
                  </a:cubicBezTo>
                  <a:lnTo>
                    <a:pt x="9563100" y="733806"/>
                  </a:lnTo>
                  <a:cubicBezTo>
                    <a:pt x="9563100" y="847598"/>
                    <a:pt x="9470898" y="939800"/>
                    <a:pt x="9357106" y="939800"/>
                  </a:cubicBezTo>
                  <a:lnTo>
                    <a:pt x="205994" y="939800"/>
                  </a:lnTo>
                  <a:cubicBezTo>
                    <a:pt x="92202" y="939800"/>
                    <a:pt x="0" y="847598"/>
                    <a:pt x="0" y="733806"/>
                  </a:cubicBezTo>
                  <a:close/>
                </a:path>
              </a:pathLst>
            </a:custGeom>
            <a:solidFill>
              <a:srgbClr val="010515"/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925050" y="4066137"/>
            <a:ext cx="228600" cy="228600"/>
            <a:chOff x="0" y="0"/>
            <a:chExt cx="304800" cy="304800"/>
          </a:xfrm>
        </p:grpSpPr>
        <p:sp>
          <p:nvSpPr>
            <p:cNvPr name="Freeform 55" id="55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0306050" y="4013749"/>
            <a:ext cx="515874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rio-Lanterna!Nuvem-92-Café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677400" y="4632874"/>
            <a:ext cx="1390650" cy="95250"/>
            <a:chOff x="0" y="0"/>
            <a:chExt cx="1854200" cy="127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54200" cy="127000"/>
            </a:xfrm>
            <a:custGeom>
              <a:avLst/>
              <a:gdLst/>
              <a:ahLst/>
              <a:cxnLst/>
              <a:rect r="r" b="b" t="t" l="l"/>
              <a:pathLst>
                <a:path h="127000" w="18542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790700" y="0"/>
                  </a:lnTo>
                  <a:cubicBezTo>
                    <a:pt x="1825752" y="0"/>
                    <a:pt x="1854200" y="28448"/>
                    <a:pt x="1854200" y="63500"/>
                  </a:cubicBezTo>
                  <a:cubicBezTo>
                    <a:pt x="1854200" y="98552"/>
                    <a:pt x="1825752" y="127000"/>
                    <a:pt x="1790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3AD69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125200" y="4632874"/>
            <a:ext cx="1390650" cy="95250"/>
            <a:chOff x="0" y="0"/>
            <a:chExt cx="1854200" cy="127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54200" cy="127000"/>
            </a:xfrm>
            <a:custGeom>
              <a:avLst/>
              <a:gdLst/>
              <a:ahLst/>
              <a:cxnLst/>
              <a:rect r="r" b="b" t="t" l="l"/>
              <a:pathLst>
                <a:path h="127000" w="18542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790700" y="0"/>
                  </a:lnTo>
                  <a:cubicBezTo>
                    <a:pt x="1825752" y="0"/>
                    <a:pt x="1854200" y="28448"/>
                    <a:pt x="1854200" y="63500"/>
                  </a:cubicBezTo>
                  <a:cubicBezTo>
                    <a:pt x="1854200" y="98552"/>
                    <a:pt x="1825752" y="127000"/>
                    <a:pt x="1790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3AD69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573000" y="4632874"/>
            <a:ext cx="1390650" cy="95250"/>
            <a:chOff x="0" y="0"/>
            <a:chExt cx="1854200" cy="127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54200" cy="127000"/>
            </a:xfrm>
            <a:custGeom>
              <a:avLst/>
              <a:gdLst/>
              <a:ahLst/>
              <a:cxnLst/>
              <a:rect r="r" b="b" t="t" l="l"/>
              <a:pathLst>
                <a:path h="127000" w="18542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790700" y="0"/>
                  </a:lnTo>
                  <a:cubicBezTo>
                    <a:pt x="1825752" y="0"/>
                    <a:pt x="1854200" y="28448"/>
                    <a:pt x="1854200" y="63500"/>
                  </a:cubicBezTo>
                  <a:cubicBezTo>
                    <a:pt x="1854200" y="98552"/>
                    <a:pt x="1825752" y="127000"/>
                    <a:pt x="1790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3AD693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020800" y="4632874"/>
            <a:ext cx="1390650" cy="95250"/>
            <a:chOff x="0" y="0"/>
            <a:chExt cx="1854200" cy="1270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54200" cy="127000"/>
            </a:xfrm>
            <a:custGeom>
              <a:avLst/>
              <a:gdLst/>
              <a:ahLst/>
              <a:cxnLst/>
              <a:rect r="r" b="b" t="t" l="l"/>
              <a:pathLst>
                <a:path h="127000" w="18542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790700" y="0"/>
                  </a:lnTo>
                  <a:cubicBezTo>
                    <a:pt x="1825752" y="0"/>
                    <a:pt x="1854200" y="28448"/>
                    <a:pt x="1854200" y="63500"/>
                  </a:cubicBezTo>
                  <a:cubicBezTo>
                    <a:pt x="1854200" y="98552"/>
                    <a:pt x="1825752" y="127000"/>
                    <a:pt x="1790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3AD69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468600" y="4632874"/>
            <a:ext cx="1390650" cy="95250"/>
            <a:chOff x="0" y="0"/>
            <a:chExt cx="1854200" cy="127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54200" cy="127000"/>
            </a:xfrm>
            <a:custGeom>
              <a:avLst/>
              <a:gdLst/>
              <a:ahLst/>
              <a:cxnLst/>
              <a:rect r="r" b="b" t="t" l="l"/>
              <a:pathLst>
                <a:path h="127000" w="18542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790700" y="0"/>
                  </a:lnTo>
                  <a:cubicBezTo>
                    <a:pt x="1825752" y="0"/>
                    <a:pt x="1854200" y="28448"/>
                    <a:pt x="1854200" y="63500"/>
                  </a:cubicBezTo>
                  <a:cubicBezTo>
                    <a:pt x="1854200" y="98552"/>
                    <a:pt x="1825752" y="127000"/>
                    <a:pt x="1790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3AD693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9686925" y="4794799"/>
            <a:ext cx="177736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Senha fictícia ·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944225" y="4794799"/>
            <a:ext cx="349186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Strong Password — Senha forte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677400" y="5347249"/>
            <a:ext cx="400050" cy="400050"/>
            <a:chOff x="0" y="0"/>
            <a:chExt cx="533400" cy="533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3CD791">
                <a:alpha val="3922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763125" y="5432974"/>
            <a:ext cx="228600" cy="228600"/>
            <a:chOff x="0" y="0"/>
            <a:chExt cx="304800" cy="304800"/>
          </a:xfrm>
        </p:grpSpPr>
        <p:sp>
          <p:nvSpPr>
            <p:cNvPr name="Freeform 72" id="72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0220325" y="5361537"/>
            <a:ext cx="609933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Senha longa, única e difícil de adivinhar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677400" y="5918749"/>
            <a:ext cx="400050" cy="400050"/>
            <a:chOff x="0" y="0"/>
            <a:chExt cx="533400" cy="533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3CD791">
                <a:alpha val="3922"/>
              </a:srgbClr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763125" y="6004474"/>
            <a:ext cx="228600" cy="228600"/>
            <a:chOff x="0" y="0"/>
            <a:chExt cx="304800" cy="304800"/>
          </a:xfrm>
        </p:grpSpPr>
        <p:sp>
          <p:nvSpPr>
            <p:cNvPr name="Freeform 77" id="77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10220325" y="5933037"/>
            <a:ext cx="5896928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Autenticação em duas etapas ativada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9677400" y="6490249"/>
            <a:ext cx="400050" cy="400050"/>
            <a:chOff x="0" y="0"/>
            <a:chExt cx="533400" cy="533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3CD791">
                <a:alpha val="3922"/>
              </a:srgbClr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763125" y="6575974"/>
            <a:ext cx="228600" cy="228600"/>
            <a:chOff x="0" y="0"/>
            <a:chExt cx="304800" cy="304800"/>
          </a:xfrm>
        </p:grpSpPr>
        <p:sp>
          <p:nvSpPr>
            <p:cNvPr name="Freeform 82" id="82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10220325" y="6504537"/>
            <a:ext cx="5325428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Atualizações de segurança em dia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042988" y="8529638"/>
            <a:ext cx="16202025" cy="1095375"/>
            <a:chOff x="0" y="0"/>
            <a:chExt cx="21602700" cy="14605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6027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1602700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lnTo>
                    <a:pt x="21346413" y="0"/>
                  </a:lnTo>
                  <a:cubicBezTo>
                    <a:pt x="21488019" y="0"/>
                    <a:pt x="21602700" y="114681"/>
                    <a:pt x="21602700" y="256286"/>
                  </a:cubicBezTo>
                  <a:lnTo>
                    <a:pt x="21602700" y="1204214"/>
                  </a:lnTo>
                  <a:cubicBezTo>
                    <a:pt x="21602700" y="1345692"/>
                    <a:pt x="21488019" y="1460500"/>
                    <a:pt x="21346413" y="1460500"/>
                  </a:cubicBezTo>
                  <a:lnTo>
                    <a:pt x="256286" y="1460500"/>
                  </a:lnTo>
                  <a:cubicBezTo>
                    <a:pt x="114681" y="1460500"/>
                    <a:pt x="0" y="1345819"/>
                    <a:pt x="0" y="1204214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433512" y="8767762"/>
            <a:ext cx="619125" cy="619125"/>
            <a:chOff x="0" y="0"/>
            <a:chExt cx="825500" cy="8255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25500" cy="825500"/>
            </a:xfrm>
            <a:custGeom>
              <a:avLst/>
              <a:gdLst/>
              <a:ahLst/>
              <a:cxnLst/>
              <a:rect r="r" b="b" t="t" l="l"/>
              <a:pathLst>
                <a:path h="825500" w="825500">
                  <a:moveTo>
                    <a:pt x="0" y="206375"/>
                  </a:moveTo>
                  <a:cubicBezTo>
                    <a:pt x="0" y="92456"/>
                    <a:pt x="92456" y="0"/>
                    <a:pt x="206375" y="0"/>
                  </a:cubicBezTo>
                  <a:lnTo>
                    <a:pt x="619125" y="0"/>
                  </a:lnTo>
                  <a:cubicBezTo>
                    <a:pt x="733044" y="0"/>
                    <a:pt x="825500" y="92456"/>
                    <a:pt x="825500" y="206375"/>
                  </a:cubicBezTo>
                  <a:lnTo>
                    <a:pt x="825500" y="619125"/>
                  </a:lnTo>
                  <a:cubicBezTo>
                    <a:pt x="825500" y="733044"/>
                    <a:pt x="733044" y="825500"/>
                    <a:pt x="619125" y="825500"/>
                  </a:cubicBezTo>
                  <a:lnTo>
                    <a:pt x="206375" y="825500"/>
                  </a:lnTo>
                  <a:cubicBezTo>
                    <a:pt x="92456" y="825500"/>
                    <a:pt x="0" y="733044"/>
                    <a:pt x="0" y="619125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590675" y="8924925"/>
            <a:ext cx="304800" cy="304800"/>
            <a:chOff x="0" y="0"/>
            <a:chExt cx="406400" cy="406400"/>
          </a:xfrm>
        </p:grpSpPr>
        <p:sp>
          <p:nvSpPr>
            <p:cNvPr name="Freeform 89" id="89" descr="Ícone independente e substituível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2352675" y="8786813"/>
            <a:ext cx="4072109" cy="381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MULTI-LAYERED SECURITY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352675" y="9091612"/>
            <a:ext cx="2979896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Segurança em camadas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5741041" y="8801100"/>
            <a:ext cx="28575" cy="552450"/>
            <a:chOff x="0" y="0"/>
            <a:chExt cx="38100" cy="736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8100" cy="736600"/>
            </a:xfrm>
            <a:custGeom>
              <a:avLst/>
              <a:gdLst/>
              <a:ahLst/>
              <a:cxnLst/>
              <a:rect r="r" b="b" t="t" l="l"/>
              <a:pathLst>
                <a:path h="7366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2DBF6">
                <a:alpha val="4706"/>
              </a:srgbClr>
            </a:solid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6064891" y="8894559"/>
            <a:ext cx="7801928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Nenhuma medida isolada garante proteção absoluta.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203563" y="8894559"/>
            <a:ext cx="5277803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>
                <a:solidFill>
                  <a:srgbClr val="13DCF6"/>
                </a:solidFill>
                <a:latin typeface="Arimo"/>
                <a:ea typeface="Arimo"/>
                <a:cs typeface="Arimo"/>
                <a:sym typeface="Arimo"/>
              </a:rPr>
              <a:t>Combinar mecanismos reduz riscos.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047750" y="9791700"/>
            <a:ext cx="152400" cy="152400"/>
            <a:chOff x="0" y="0"/>
            <a:chExt cx="203200" cy="203200"/>
          </a:xfrm>
        </p:grpSpPr>
        <p:sp>
          <p:nvSpPr>
            <p:cNvPr name="Freeform 97" id="97" descr="Ícone independente e substituível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276350" y="9744075"/>
            <a:ext cx="2658428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 Mecanismos de Segurança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4649450" y="9744075"/>
            <a:ext cx="3444240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Semana da Computação · Nov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47750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7376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86" y="890588"/>
            <a:ext cx="628650" cy="28575"/>
            <a:chOff x="0" y="0"/>
            <a:chExt cx="8382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8200" cy="38100"/>
            </a:xfrm>
            <a:custGeom>
              <a:avLst/>
              <a:gdLst/>
              <a:ahLst/>
              <a:cxnLst/>
              <a:rect r="r" b="b" t="t" l="l"/>
              <a:pathLst>
                <a:path h="381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DCF7">
                <a:alpha val="35686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221411" y="762000"/>
            <a:ext cx="2098834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CONCLUSÃO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1123950"/>
            <a:ext cx="5288594" cy="96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2"/>
              </a:lnSpc>
            </a:pPr>
            <a:r>
              <a:rPr lang="en-US" sz="510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Boas práticas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2988" y="2370687"/>
            <a:ext cx="8592293" cy="828675"/>
            <a:chOff x="0" y="0"/>
            <a:chExt cx="11456391" cy="1104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56415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456415">
                  <a:moveTo>
                    <a:pt x="0" y="256921"/>
                  </a:moveTo>
                  <a:cubicBezTo>
                    <a:pt x="0" y="115062"/>
                    <a:pt x="115062" y="0"/>
                    <a:pt x="256921" y="0"/>
                  </a:cubicBezTo>
                  <a:lnTo>
                    <a:pt x="11199495" y="0"/>
                  </a:lnTo>
                  <a:cubicBezTo>
                    <a:pt x="11341353" y="0"/>
                    <a:pt x="11456415" y="115062"/>
                    <a:pt x="11456415" y="256921"/>
                  </a:cubicBezTo>
                  <a:lnTo>
                    <a:pt x="11456415" y="847979"/>
                  </a:lnTo>
                  <a:cubicBezTo>
                    <a:pt x="11456415" y="989838"/>
                    <a:pt x="11341353" y="1104900"/>
                    <a:pt x="11199495" y="1104900"/>
                  </a:cubicBezTo>
                  <a:lnTo>
                    <a:pt x="256921" y="1104900"/>
                  </a:lnTo>
                  <a:cubicBezTo>
                    <a:pt x="115062" y="1104900"/>
                    <a:pt x="0" y="989838"/>
                    <a:pt x="0" y="847979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14450" y="2565949"/>
            <a:ext cx="438150" cy="438150"/>
            <a:chOff x="0" y="0"/>
            <a:chExt cx="584200" cy="584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4200" cy="584200"/>
            </a:xfrm>
            <a:custGeom>
              <a:avLst/>
              <a:gdLst/>
              <a:ahLst/>
              <a:cxnLst/>
              <a:rect r="r" b="b" t="t" l="l"/>
              <a:pathLst>
                <a:path h="584200" w="584200">
                  <a:moveTo>
                    <a:pt x="0" y="292100"/>
                  </a:moveTo>
                  <a:cubicBezTo>
                    <a:pt x="0" y="130810"/>
                    <a:pt x="130810" y="0"/>
                    <a:pt x="292100" y="0"/>
                  </a:cubicBezTo>
                  <a:cubicBezTo>
                    <a:pt x="453390" y="0"/>
                    <a:pt x="584200" y="130810"/>
                    <a:pt x="584200" y="292100"/>
                  </a:cubicBezTo>
                  <a:cubicBezTo>
                    <a:pt x="584200" y="453390"/>
                    <a:pt x="453390" y="584200"/>
                    <a:pt x="292100" y="584200"/>
                  </a:cubicBezTo>
                  <a:cubicBezTo>
                    <a:pt x="130810" y="584200"/>
                    <a:pt x="0" y="453390"/>
                    <a:pt x="0" y="292100"/>
                  </a:cubicBezTo>
                  <a:close/>
                </a:path>
              </a:pathLst>
            </a:custGeom>
            <a:solidFill>
              <a:srgbClr val="3CD791">
                <a:alpha val="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19225" y="2670724"/>
            <a:ext cx="228600" cy="228600"/>
            <a:chOff x="0" y="0"/>
            <a:chExt cx="304800" cy="304800"/>
          </a:xfrm>
        </p:grpSpPr>
        <p:sp>
          <p:nvSpPr>
            <p:cNvPr name="Freeform 15" id="15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971675" y="2599287"/>
            <a:ext cx="5313521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Utilizar senhas fortes e exclusivas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87593" y="2651674"/>
            <a:ext cx="266700" cy="266700"/>
            <a:chOff x="0" y="0"/>
            <a:chExt cx="355600" cy="355600"/>
          </a:xfrm>
        </p:grpSpPr>
        <p:sp>
          <p:nvSpPr>
            <p:cNvPr name="Freeform 18" id="18" descr="Ícone independente e substituível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42988" y="3342237"/>
            <a:ext cx="8592293" cy="828675"/>
            <a:chOff x="0" y="0"/>
            <a:chExt cx="11456391" cy="1104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56415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456415">
                  <a:moveTo>
                    <a:pt x="0" y="256921"/>
                  </a:moveTo>
                  <a:cubicBezTo>
                    <a:pt x="0" y="115062"/>
                    <a:pt x="115062" y="0"/>
                    <a:pt x="256921" y="0"/>
                  </a:cubicBezTo>
                  <a:lnTo>
                    <a:pt x="11199495" y="0"/>
                  </a:lnTo>
                  <a:cubicBezTo>
                    <a:pt x="11341353" y="0"/>
                    <a:pt x="11456415" y="115062"/>
                    <a:pt x="11456415" y="256921"/>
                  </a:cubicBezTo>
                  <a:lnTo>
                    <a:pt x="11456415" y="847979"/>
                  </a:lnTo>
                  <a:cubicBezTo>
                    <a:pt x="11456415" y="989838"/>
                    <a:pt x="11341353" y="1104900"/>
                    <a:pt x="11199495" y="1104900"/>
                  </a:cubicBezTo>
                  <a:lnTo>
                    <a:pt x="256921" y="1104900"/>
                  </a:lnTo>
                  <a:cubicBezTo>
                    <a:pt x="115062" y="1104900"/>
                    <a:pt x="0" y="989838"/>
                    <a:pt x="0" y="847979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14450" y="3537499"/>
            <a:ext cx="438150" cy="438150"/>
            <a:chOff x="0" y="0"/>
            <a:chExt cx="584200" cy="584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4200" cy="584200"/>
            </a:xfrm>
            <a:custGeom>
              <a:avLst/>
              <a:gdLst/>
              <a:ahLst/>
              <a:cxnLst/>
              <a:rect r="r" b="b" t="t" l="l"/>
              <a:pathLst>
                <a:path h="584200" w="584200">
                  <a:moveTo>
                    <a:pt x="0" y="292100"/>
                  </a:moveTo>
                  <a:cubicBezTo>
                    <a:pt x="0" y="130810"/>
                    <a:pt x="130810" y="0"/>
                    <a:pt x="292100" y="0"/>
                  </a:cubicBezTo>
                  <a:cubicBezTo>
                    <a:pt x="453390" y="0"/>
                    <a:pt x="584200" y="130810"/>
                    <a:pt x="584200" y="292100"/>
                  </a:cubicBezTo>
                  <a:cubicBezTo>
                    <a:pt x="584200" y="453390"/>
                    <a:pt x="453390" y="584200"/>
                    <a:pt x="292100" y="584200"/>
                  </a:cubicBezTo>
                  <a:cubicBezTo>
                    <a:pt x="130810" y="584200"/>
                    <a:pt x="0" y="453390"/>
                    <a:pt x="0" y="292100"/>
                  </a:cubicBezTo>
                  <a:close/>
                </a:path>
              </a:pathLst>
            </a:custGeom>
            <a:solidFill>
              <a:srgbClr val="3CD791">
                <a:alpha val="392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19225" y="3642274"/>
            <a:ext cx="228600" cy="228600"/>
            <a:chOff x="0" y="0"/>
            <a:chExt cx="304800" cy="304800"/>
          </a:xfrm>
        </p:grpSpPr>
        <p:sp>
          <p:nvSpPr>
            <p:cNvPr name="Freeform 24" id="24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971675" y="3570837"/>
            <a:ext cx="5908834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Ativar a autenticação em duas etapas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087593" y="3623224"/>
            <a:ext cx="266700" cy="266700"/>
            <a:chOff x="0" y="0"/>
            <a:chExt cx="355600" cy="355600"/>
          </a:xfrm>
        </p:grpSpPr>
        <p:sp>
          <p:nvSpPr>
            <p:cNvPr name="Freeform 27" id="27" descr="Ícone independente e substituível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42988" y="4313787"/>
            <a:ext cx="8592293" cy="1076325"/>
            <a:chOff x="0" y="0"/>
            <a:chExt cx="11456391" cy="14351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56416" cy="1435100"/>
            </a:xfrm>
            <a:custGeom>
              <a:avLst/>
              <a:gdLst/>
              <a:ahLst/>
              <a:cxnLst/>
              <a:rect r="r" b="b" t="t" l="l"/>
              <a:pathLst>
                <a:path h="1435100" w="11456416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lnTo>
                    <a:pt x="11200130" y="0"/>
                  </a:lnTo>
                  <a:cubicBezTo>
                    <a:pt x="11341608" y="0"/>
                    <a:pt x="11456416" y="114681"/>
                    <a:pt x="11456416" y="256286"/>
                  </a:cubicBezTo>
                  <a:lnTo>
                    <a:pt x="11456416" y="1178814"/>
                  </a:lnTo>
                  <a:cubicBezTo>
                    <a:pt x="11456416" y="1320292"/>
                    <a:pt x="11341736" y="1435100"/>
                    <a:pt x="11200130" y="1435100"/>
                  </a:cubicBezTo>
                  <a:lnTo>
                    <a:pt x="256286" y="1435100"/>
                  </a:lnTo>
                  <a:cubicBezTo>
                    <a:pt x="114681" y="1435100"/>
                    <a:pt x="0" y="1320419"/>
                    <a:pt x="0" y="1178814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14450" y="4632874"/>
            <a:ext cx="438150" cy="438150"/>
            <a:chOff x="0" y="0"/>
            <a:chExt cx="584200" cy="584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4200" cy="584200"/>
            </a:xfrm>
            <a:custGeom>
              <a:avLst/>
              <a:gdLst/>
              <a:ahLst/>
              <a:cxnLst/>
              <a:rect r="r" b="b" t="t" l="l"/>
              <a:pathLst>
                <a:path h="584200" w="584200">
                  <a:moveTo>
                    <a:pt x="0" y="292100"/>
                  </a:moveTo>
                  <a:cubicBezTo>
                    <a:pt x="0" y="130810"/>
                    <a:pt x="130810" y="0"/>
                    <a:pt x="292100" y="0"/>
                  </a:cubicBezTo>
                  <a:cubicBezTo>
                    <a:pt x="453390" y="0"/>
                    <a:pt x="584200" y="130810"/>
                    <a:pt x="584200" y="292100"/>
                  </a:cubicBezTo>
                  <a:cubicBezTo>
                    <a:pt x="584200" y="453390"/>
                    <a:pt x="453390" y="584200"/>
                    <a:pt x="292100" y="584200"/>
                  </a:cubicBezTo>
                  <a:cubicBezTo>
                    <a:pt x="130810" y="584200"/>
                    <a:pt x="0" y="453390"/>
                    <a:pt x="0" y="292100"/>
                  </a:cubicBezTo>
                  <a:close/>
                </a:path>
              </a:pathLst>
            </a:custGeom>
            <a:solidFill>
              <a:srgbClr val="3CD791">
                <a:alpha val="3922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19225" y="4737649"/>
            <a:ext cx="228600" cy="228600"/>
            <a:chOff x="0" y="0"/>
            <a:chExt cx="304800" cy="304800"/>
          </a:xfrm>
        </p:grpSpPr>
        <p:sp>
          <p:nvSpPr>
            <p:cNvPr name="Freeform 33" id="33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971675" y="4518574"/>
            <a:ext cx="6539865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Manter sistemas e aplicativos atualizados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71675" y="4947199"/>
            <a:ext cx="2575646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SECURITY UPDATES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05698" y="4928149"/>
            <a:ext cx="44386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—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96198" y="4928149"/>
            <a:ext cx="2991802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Atualizações de segurança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087593" y="4718599"/>
            <a:ext cx="266700" cy="266700"/>
            <a:chOff x="0" y="0"/>
            <a:chExt cx="355600" cy="355600"/>
          </a:xfrm>
        </p:grpSpPr>
        <p:sp>
          <p:nvSpPr>
            <p:cNvPr name="Freeform 39" id="39" descr="Ícone independente e substituível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42988" y="5532987"/>
            <a:ext cx="8592293" cy="1076325"/>
            <a:chOff x="0" y="0"/>
            <a:chExt cx="11456391" cy="1435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456416" cy="1435100"/>
            </a:xfrm>
            <a:custGeom>
              <a:avLst/>
              <a:gdLst/>
              <a:ahLst/>
              <a:cxnLst/>
              <a:rect r="r" b="b" t="t" l="l"/>
              <a:pathLst>
                <a:path h="1435100" w="11456416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lnTo>
                    <a:pt x="11200130" y="0"/>
                  </a:lnTo>
                  <a:cubicBezTo>
                    <a:pt x="11341608" y="0"/>
                    <a:pt x="11456416" y="114681"/>
                    <a:pt x="11456416" y="256286"/>
                  </a:cubicBezTo>
                  <a:lnTo>
                    <a:pt x="11456416" y="1178814"/>
                  </a:lnTo>
                  <a:cubicBezTo>
                    <a:pt x="11456416" y="1320292"/>
                    <a:pt x="11341736" y="1435100"/>
                    <a:pt x="11200130" y="1435100"/>
                  </a:cubicBezTo>
                  <a:lnTo>
                    <a:pt x="256286" y="1435100"/>
                  </a:lnTo>
                  <a:cubicBezTo>
                    <a:pt x="114681" y="1435100"/>
                    <a:pt x="0" y="1320419"/>
                    <a:pt x="0" y="1178814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14450" y="5852074"/>
            <a:ext cx="438150" cy="438150"/>
            <a:chOff x="0" y="0"/>
            <a:chExt cx="584200" cy="584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4200" cy="584200"/>
            </a:xfrm>
            <a:custGeom>
              <a:avLst/>
              <a:gdLst/>
              <a:ahLst/>
              <a:cxnLst/>
              <a:rect r="r" b="b" t="t" l="l"/>
              <a:pathLst>
                <a:path h="584200" w="584200">
                  <a:moveTo>
                    <a:pt x="0" y="292100"/>
                  </a:moveTo>
                  <a:cubicBezTo>
                    <a:pt x="0" y="130810"/>
                    <a:pt x="130810" y="0"/>
                    <a:pt x="292100" y="0"/>
                  </a:cubicBezTo>
                  <a:cubicBezTo>
                    <a:pt x="453390" y="0"/>
                    <a:pt x="584200" y="130810"/>
                    <a:pt x="584200" y="292100"/>
                  </a:cubicBezTo>
                  <a:cubicBezTo>
                    <a:pt x="584200" y="453390"/>
                    <a:pt x="453390" y="584200"/>
                    <a:pt x="292100" y="584200"/>
                  </a:cubicBezTo>
                  <a:cubicBezTo>
                    <a:pt x="130810" y="584200"/>
                    <a:pt x="0" y="453390"/>
                    <a:pt x="0" y="292100"/>
                  </a:cubicBezTo>
                  <a:close/>
                </a:path>
              </a:pathLst>
            </a:custGeom>
            <a:solidFill>
              <a:srgbClr val="3CD791">
                <a:alpha val="392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19225" y="5956849"/>
            <a:ext cx="228600" cy="228600"/>
            <a:chOff x="0" y="0"/>
            <a:chExt cx="304800" cy="304800"/>
          </a:xfrm>
        </p:grpSpPr>
        <p:sp>
          <p:nvSpPr>
            <p:cNvPr name="Freeform 45" id="45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971675" y="5737774"/>
            <a:ext cx="4825365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Evitar links e anexos suspeitos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971675" y="6166399"/>
            <a:ext cx="2131390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ONLINE SAFETY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550291" y="6147349"/>
            <a:ext cx="44386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—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740791" y="6147349"/>
            <a:ext cx="253936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Segurança na internet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087593" y="5937799"/>
            <a:ext cx="266700" cy="266700"/>
            <a:chOff x="0" y="0"/>
            <a:chExt cx="355600" cy="355600"/>
          </a:xfrm>
        </p:grpSpPr>
        <p:sp>
          <p:nvSpPr>
            <p:cNvPr name="Freeform 51" id="51" descr="Ícone independente e substituível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42988" y="6752187"/>
            <a:ext cx="8592293" cy="1076325"/>
            <a:chOff x="0" y="0"/>
            <a:chExt cx="11456391" cy="14351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456416" cy="1435100"/>
            </a:xfrm>
            <a:custGeom>
              <a:avLst/>
              <a:gdLst/>
              <a:ahLst/>
              <a:cxnLst/>
              <a:rect r="r" b="b" t="t" l="l"/>
              <a:pathLst>
                <a:path h="1435100" w="11456416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lnTo>
                    <a:pt x="11200130" y="0"/>
                  </a:lnTo>
                  <a:cubicBezTo>
                    <a:pt x="11341608" y="0"/>
                    <a:pt x="11456416" y="114681"/>
                    <a:pt x="11456416" y="256286"/>
                  </a:cubicBezTo>
                  <a:lnTo>
                    <a:pt x="11456416" y="1178814"/>
                  </a:lnTo>
                  <a:cubicBezTo>
                    <a:pt x="11456416" y="1320292"/>
                    <a:pt x="11341736" y="1435100"/>
                    <a:pt x="11200130" y="1435100"/>
                  </a:cubicBezTo>
                  <a:lnTo>
                    <a:pt x="256286" y="1435100"/>
                  </a:lnTo>
                  <a:cubicBezTo>
                    <a:pt x="114681" y="1435100"/>
                    <a:pt x="0" y="1320419"/>
                    <a:pt x="0" y="1178814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14450" y="7071274"/>
            <a:ext cx="438150" cy="438150"/>
            <a:chOff x="0" y="0"/>
            <a:chExt cx="584200" cy="584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84200" cy="584200"/>
            </a:xfrm>
            <a:custGeom>
              <a:avLst/>
              <a:gdLst/>
              <a:ahLst/>
              <a:cxnLst/>
              <a:rect r="r" b="b" t="t" l="l"/>
              <a:pathLst>
                <a:path h="584200" w="584200">
                  <a:moveTo>
                    <a:pt x="0" y="292100"/>
                  </a:moveTo>
                  <a:cubicBezTo>
                    <a:pt x="0" y="130810"/>
                    <a:pt x="130810" y="0"/>
                    <a:pt x="292100" y="0"/>
                  </a:cubicBezTo>
                  <a:cubicBezTo>
                    <a:pt x="453390" y="0"/>
                    <a:pt x="584200" y="130810"/>
                    <a:pt x="584200" y="292100"/>
                  </a:cubicBezTo>
                  <a:cubicBezTo>
                    <a:pt x="584200" y="453390"/>
                    <a:pt x="453390" y="584200"/>
                    <a:pt x="292100" y="584200"/>
                  </a:cubicBezTo>
                  <a:cubicBezTo>
                    <a:pt x="130810" y="584200"/>
                    <a:pt x="0" y="453390"/>
                    <a:pt x="0" y="292100"/>
                  </a:cubicBezTo>
                  <a:close/>
                </a:path>
              </a:pathLst>
            </a:custGeom>
            <a:solidFill>
              <a:srgbClr val="3CD791">
                <a:alpha val="3922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19225" y="7176049"/>
            <a:ext cx="228600" cy="228600"/>
            <a:chOff x="0" y="0"/>
            <a:chExt cx="304800" cy="304800"/>
          </a:xfrm>
        </p:grpSpPr>
        <p:sp>
          <p:nvSpPr>
            <p:cNvPr name="Freeform 57" id="57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971675" y="6956974"/>
            <a:ext cx="830199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Proteger dados pessoais e fazer cópias de segurança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971675" y="7385599"/>
            <a:ext cx="3760499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PROTECTION · BACKUP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853588" y="7366549"/>
            <a:ext cx="443865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—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044088" y="7366549"/>
            <a:ext cx="4420553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3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Proteção de dados · Cópia de segurança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087593" y="7156999"/>
            <a:ext cx="266700" cy="266700"/>
            <a:chOff x="0" y="0"/>
            <a:chExt cx="355600" cy="355600"/>
          </a:xfrm>
        </p:grpSpPr>
        <p:sp>
          <p:nvSpPr>
            <p:cNvPr name="Freeform 63" id="63" descr="Ícone independente e substituível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082955" y="2370687"/>
            <a:ext cx="7161905" cy="7254326"/>
            <a:chOff x="0" y="0"/>
            <a:chExt cx="9549206" cy="967243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549130" cy="9672448"/>
            </a:xfrm>
            <a:custGeom>
              <a:avLst/>
              <a:gdLst/>
              <a:ahLst/>
              <a:cxnLst/>
              <a:rect r="r" b="b" t="t" l="l"/>
              <a:pathLst>
                <a:path h="9672448" w="9549130">
                  <a:moveTo>
                    <a:pt x="0" y="254254"/>
                  </a:moveTo>
                  <a:cubicBezTo>
                    <a:pt x="0" y="113792"/>
                    <a:pt x="113792" y="0"/>
                    <a:pt x="254254" y="0"/>
                  </a:cubicBezTo>
                  <a:lnTo>
                    <a:pt x="9294876" y="0"/>
                  </a:lnTo>
                  <a:cubicBezTo>
                    <a:pt x="9435338" y="0"/>
                    <a:pt x="9549130" y="113792"/>
                    <a:pt x="9549130" y="254254"/>
                  </a:cubicBezTo>
                  <a:lnTo>
                    <a:pt x="9549130" y="9418193"/>
                  </a:lnTo>
                  <a:cubicBezTo>
                    <a:pt x="9549130" y="9558655"/>
                    <a:pt x="9435338" y="9672448"/>
                    <a:pt x="9294876" y="9672448"/>
                  </a:cubicBezTo>
                  <a:lnTo>
                    <a:pt x="254254" y="9672448"/>
                  </a:lnTo>
                  <a:cubicBezTo>
                    <a:pt x="113792" y="9672447"/>
                    <a:pt x="0" y="9558528"/>
                    <a:pt x="0" y="9418193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4182573" y="6562725"/>
            <a:ext cx="3429000" cy="3429000"/>
            <a:chOff x="0" y="0"/>
            <a:chExt cx="4572000" cy="4572000"/>
          </a:xfrm>
        </p:grpSpPr>
        <p:sp>
          <p:nvSpPr>
            <p:cNvPr name="Freeform 67" id="67" descr="Ícone independente e substituível"/>
            <p:cNvSpPr/>
            <p:nvPr/>
          </p:nvSpPr>
          <p:spPr>
            <a:xfrm flipH="false" flipV="false" rot="0">
              <a:off x="0" y="0"/>
              <a:ext cx="4572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549680" y="2837412"/>
            <a:ext cx="771525" cy="771525"/>
            <a:chOff x="0" y="0"/>
            <a:chExt cx="1028700" cy="1028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205740"/>
                  </a:moveTo>
                  <a:cubicBezTo>
                    <a:pt x="0" y="92075"/>
                    <a:pt x="92075" y="0"/>
                    <a:pt x="205740" y="0"/>
                  </a:cubicBezTo>
                  <a:lnTo>
                    <a:pt x="822960" y="0"/>
                  </a:lnTo>
                  <a:cubicBezTo>
                    <a:pt x="936625" y="0"/>
                    <a:pt x="1028700" y="92075"/>
                    <a:pt x="1028700" y="205740"/>
                  </a:cubicBezTo>
                  <a:lnTo>
                    <a:pt x="1028700" y="822960"/>
                  </a:lnTo>
                  <a:cubicBezTo>
                    <a:pt x="1028700" y="936625"/>
                    <a:pt x="936625" y="1028700"/>
                    <a:pt x="822960" y="1028700"/>
                  </a:cubicBezTo>
                  <a:lnTo>
                    <a:pt x="205740" y="1028700"/>
                  </a:lnTo>
                  <a:cubicBezTo>
                    <a:pt x="92075" y="1028700"/>
                    <a:pt x="0" y="936625"/>
                    <a:pt x="0" y="822960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0744943" y="3032674"/>
            <a:ext cx="381000" cy="381000"/>
            <a:chOff x="0" y="0"/>
            <a:chExt cx="508000" cy="508000"/>
          </a:xfrm>
        </p:grpSpPr>
        <p:sp>
          <p:nvSpPr>
            <p:cNvPr name="Freeform 71" id="71" descr="Ícone independente e substituível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0554443" y="3937549"/>
            <a:ext cx="6039803" cy="74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75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“A segurança digital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554443" y="4532862"/>
            <a:ext cx="6015990" cy="74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75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começa com nossas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554443" y="5128174"/>
            <a:ext cx="3241834" cy="74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75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escolhas.”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554443" y="6094962"/>
            <a:ext cx="6161837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0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“SECURITY STARTS WITH US.”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554443" y="6466437"/>
            <a:ext cx="5623084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Tradução: “A segurança começa conosco.”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554443" y="8782050"/>
            <a:ext cx="3694271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Obrigado pela atenção!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047750" y="9791700"/>
            <a:ext cx="152400" cy="152400"/>
            <a:chOff x="0" y="0"/>
            <a:chExt cx="203200" cy="203200"/>
          </a:xfrm>
        </p:grpSpPr>
        <p:sp>
          <p:nvSpPr>
            <p:cNvPr name="Freeform 79" id="79" descr="Ícone independente e substituível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276350" y="9744075"/>
            <a:ext cx="2658428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 Mecanismos de Segurança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649450" y="9744075"/>
            <a:ext cx="3444240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Semana da Computação · Nov 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47750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7376" y="771525"/>
            <a:ext cx="367779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49886" y="890588"/>
            <a:ext cx="628650" cy="28575"/>
            <a:chOff x="0" y="0"/>
            <a:chExt cx="8382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8200" cy="38100"/>
            </a:xfrm>
            <a:custGeom>
              <a:avLst/>
              <a:gdLst/>
              <a:ahLst/>
              <a:cxnLst/>
              <a:rect r="r" b="b" t="t" l="l"/>
              <a:pathLst>
                <a:path h="381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DCF7">
                <a:alpha val="35686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750" y="2265150"/>
            <a:ext cx="9790271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2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A apresentação termina aqui, mas sua segurança digital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934311"/>
            <a:ext cx="361950" cy="361950"/>
            <a:chOff x="0" y="0"/>
            <a:chExt cx="482600" cy="4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4DDF8">
                <a:alpha val="1961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4425" y="4020036"/>
            <a:ext cx="190500" cy="190500"/>
            <a:chOff x="0" y="0"/>
            <a:chExt cx="254000" cy="254000"/>
          </a:xfrm>
        </p:grpSpPr>
        <p:sp>
          <p:nvSpPr>
            <p:cNvPr name="Freeform 12" id="12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4458186"/>
            <a:ext cx="361950" cy="361950"/>
            <a:chOff x="0" y="0"/>
            <a:chExt cx="482600" cy="482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4DDF8">
                <a:alpha val="1961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14425" y="4543911"/>
            <a:ext cx="190500" cy="190500"/>
            <a:chOff x="0" y="0"/>
            <a:chExt cx="254000" cy="254000"/>
          </a:xfrm>
        </p:grpSpPr>
        <p:sp>
          <p:nvSpPr>
            <p:cNvPr name="Freeform 16" id="16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4982061"/>
            <a:ext cx="361950" cy="361950"/>
            <a:chOff x="0" y="0"/>
            <a:chExt cx="482600" cy="482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4DDF8">
                <a:alpha val="1961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14425" y="5067786"/>
            <a:ext cx="190500" cy="190500"/>
            <a:chOff x="0" y="0"/>
            <a:chExt cx="254000" cy="254000"/>
          </a:xfrm>
        </p:grpSpPr>
        <p:sp>
          <p:nvSpPr>
            <p:cNvPr name="Freeform 20" id="20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8700" y="5505936"/>
            <a:ext cx="361950" cy="361950"/>
            <a:chOff x="0" y="0"/>
            <a:chExt cx="482600" cy="482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4DDF8">
                <a:alpha val="1961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14425" y="5591661"/>
            <a:ext cx="190500" cy="190500"/>
            <a:chOff x="0" y="0"/>
            <a:chExt cx="254000" cy="254000"/>
          </a:xfrm>
        </p:grpSpPr>
        <p:sp>
          <p:nvSpPr>
            <p:cNvPr name="Freeform 24" id="24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8700" y="6029811"/>
            <a:ext cx="361950" cy="361950"/>
            <a:chOff x="0" y="0"/>
            <a:chExt cx="482600" cy="482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4DDF8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14425" y="6115536"/>
            <a:ext cx="190500" cy="190500"/>
            <a:chOff x="0" y="0"/>
            <a:chExt cx="254000" cy="254000"/>
          </a:xfrm>
        </p:grpSpPr>
        <p:sp>
          <p:nvSpPr>
            <p:cNvPr name="Freeform 28" id="28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42437" y="2370687"/>
            <a:ext cx="7502576" cy="6339926"/>
            <a:chOff x="0" y="0"/>
            <a:chExt cx="10003434" cy="84532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03410" cy="8453248"/>
            </a:xfrm>
            <a:custGeom>
              <a:avLst/>
              <a:gdLst/>
              <a:ahLst/>
              <a:cxnLst/>
              <a:rect r="r" b="b" t="t" l="l"/>
              <a:pathLst>
                <a:path h="8453248" w="10003410">
                  <a:moveTo>
                    <a:pt x="0" y="254381"/>
                  </a:moveTo>
                  <a:cubicBezTo>
                    <a:pt x="0" y="113919"/>
                    <a:pt x="113919" y="0"/>
                    <a:pt x="254381" y="0"/>
                  </a:cubicBezTo>
                  <a:lnTo>
                    <a:pt x="9749028" y="0"/>
                  </a:lnTo>
                  <a:cubicBezTo>
                    <a:pt x="9889490" y="0"/>
                    <a:pt x="10003410" y="113919"/>
                    <a:pt x="10003410" y="254381"/>
                  </a:cubicBezTo>
                  <a:lnTo>
                    <a:pt x="10003410" y="8198866"/>
                  </a:lnTo>
                  <a:cubicBezTo>
                    <a:pt x="10003410" y="8339328"/>
                    <a:pt x="9889490" y="8453248"/>
                    <a:pt x="9749028" y="8453248"/>
                  </a:cubicBezTo>
                  <a:lnTo>
                    <a:pt x="254381" y="8453248"/>
                  </a:lnTo>
                  <a:cubicBezTo>
                    <a:pt x="113919" y="8453247"/>
                    <a:pt x="0" y="8339328"/>
                    <a:pt x="0" y="8198866"/>
                  </a:cubicBezTo>
                  <a:close/>
                </a:path>
              </a:pathLst>
            </a:custGeom>
            <a:solidFill>
              <a:srgbClr val="0F213E">
                <a:alpha val="29804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4830425" y="1927774"/>
            <a:ext cx="2857500" cy="2857500"/>
            <a:chOff x="0" y="0"/>
            <a:chExt cx="3810000" cy="3810000"/>
          </a:xfrm>
        </p:grpSpPr>
        <p:sp>
          <p:nvSpPr>
            <p:cNvPr name="Freeform 32" id="32" descr="Ícone independente e substituível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831411" y="2761212"/>
            <a:ext cx="619125" cy="619125"/>
            <a:chOff x="0" y="0"/>
            <a:chExt cx="825500" cy="825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5500" cy="825500"/>
            </a:xfrm>
            <a:custGeom>
              <a:avLst/>
              <a:gdLst/>
              <a:ahLst/>
              <a:cxnLst/>
              <a:rect r="r" b="b" t="t" l="l"/>
              <a:pathLst>
                <a:path h="825500" w="825500">
                  <a:moveTo>
                    <a:pt x="0" y="206375"/>
                  </a:moveTo>
                  <a:cubicBezTo>
                    <a:pt x="0" y="92456"/>
                    <a:pt x="92456" y="0"/>
                    <a:pt x="206375" y="0"/>
                  </a:cubicBezTo>
                  <a:lnTo>
                    <a:pt x="619125" y="0"/>
                  </a:lnTo>
                  <a:cubicBezTo>
                    <a:pt x="733044" y="0"/>
                    <a:pt x="825500" y="92456"/>
                    <a:pt x="825500" y="206375"/>
                  </a:cubicBezTo>
                  <a:lnTo>
                    <a:pt x="825500" y="619125"/>
                  </a:lnTo>
                  <a:cubicBezTo>
                    <a:pt x="825500" y="733044"/>
                    <a:pt x="733044" y="825500"/>
                    <a:pt x="619125" y="825500"/>
                  </a:cubicBezTo>
                  <a:lnTo>
                    <a:pt x="206375" y="825500"/>
                  </a:lnTo>
                  <a:cubicBezTo>
                    <a:pt x="92456" y="825500"/>
                    <a:pt x="0" y="733044"/>
                    <a:pt x="0" y="619125"/>
                  </a:cubicBezTo>
                  <a:close/>
                </a:path>
              </a:pathLst>
            </a:custGeom>
            <a:solidFill>
              <a:srgbClr val="0B85F9">
                <a:alpha val="3137"/>
              </a:srgbClr>
            </a:solidFill>
            <a:ln w="9525" cap="sq">
              <a:solidFill>
                <a:srgbClr val="12DBF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988573" y="2918374"/>
            <a:ext cx="304800" cy="304800"/>
            <a:chOff x="0" y="0"/>
            <a:chExt cx="406400" cy="406400"/>
          </a:xfrm>
        </p:grpSpPr>
        <p:sp>
          <p:nvSpPr>
            <p:cNvPr name="Freeform 36" id="36" descr="Ícone independente e substituível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483998" y="3594649"/>
            <a:ext cx="2019300" cy="2019300"/>
            <a:chOff x="0" y="0"/>
            <a:chExt cx="2692400" cy="2692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92400" cy="2692400"/>
            </a:xfrm>
            <a:custGeom>
              <a:avLst/>
              <a:gdLst/>
              <a:ahLst/>
              <a:cxnLst/>
              <a:rect r="r" b="b" t="t" l="l"/>
              <a:pathLst>
                <a:path h="2692400" w="2692400">
                  <a:moveTo>
                    <a:pt x="0" y="256413"/>
                  </a:moveTo>
                  <a:cubicBezTo>
                    <a:pt x="0" y="114808"/>
                    <a:pt x="114808" y="0"/>
                    <a:pt x="256413" y="0"/>
                  </a:cubicBezTo>
                  <a:lnTo>
                    <a:pt x="2435987" y="0"/>
                  </a:lnTo>
                  <a:cubicBezTo>
                    <a:pt x="2577592" y="0"/>
                    <a:pt x="2692400" y="114808"/>
                    <a:pt x="2692400" y="256413"/>
                  </a:cubicBezTo>
                  <a:lnTo>
                    <a:pt x="2692400" y="2435987"/>
                  </a:lnTo>
                  <a:cubicBezTo>
                    <a:pt x="2692400" y="2577592"/>
                    <a:pt x="2577592" y="2692400"/>
                    <a:pt x="2435987" y="2692400"/>
                  </a:cubicBezTo>
                  <a:lnTo>
                    <a:pt x="256413" y="2692400"/>
                  </a:lnTo>
                  <a:cubicBezTo>
                    <a:pt x="114808" y="2692400"/>
                    <a:pt x="0" y="2577592"/>
                    <a:pt x="0" y="2435987"/>
                  </a:cubicBezTo>
                  <a:close/>
                </a:path>
              </a:pathLst>
            </a:custGeom>
            <a:solidFill>
              <a:srgbClr val="020C20">
                <a:alpha val="15686"/>
              </a:srgbClr>
            </a:solidFill>
            <a:ln w="19050" cap="sq">
              <a:solidFill>
                <a:srgbClr val="12DCF7"/>
              </a:solidFill>
              <a:prstDash val="dash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188848" y="3813724"/>
            <a:ext cx="609600" cy="609600"/>
            <a:chOff x="0" y="0"/>
            <a:chExt cx="812800" cy="812800"/>
          </a:xfrm>
        </p:grpSpPr>
        <p:sp>
          <p:nvSpPr>
            <p:cNvPr name="Freeform 40" id="40" descr="Ícone independente e substituível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132962" y="6501924"/>
            <a:ext cx="6721526" cy="542925"/>
            <a:chOff x="0" y="0"/>
            <a:chExt cx="8962034" cy="7239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962136" cy="723900"/>
            </a:xfrm>
            <a:custGeom>
              <a:avLst/>
              <a:gdLst/>
              <a:ahLst/>
              <a:cxnLst/>
              <a:rect r="r" b="b" t="t" l="l"/>
              <a:pathLst>
                <a:path h="723900" w="8962136">
                  <a:moveTo>
                    <a:pt x="0" y="206883"/>
                  </a:moveTo>
                  <a:cubicBezTo>
                    <a:pt x="0" y="92583"/>
                    <a:pt x="92583" y="0"/>
                    <a:pt x="206883" y="0"/>
                  </a:cubicBezTo>
                  <a:lnTo>
                    <a:pt x="8755252" y="0"/>
                  </a:lnTo>
                  <a:cubicBezTo>
                    <a:pt x="8869426" y="0"/>
                    <a:pt x="8962136" y="92583"/>
                    <a:pt x="8962136" y="206883"/>
                  </a:cubicBezTo>
                  <a:lnTo>
                    <a:pt x="8962136" y="517017"/>
                  </a:lnTo>
                  <a:cubicBezTo>
                    <a:pt x="8962136" y="631190"/>
                    <a:pt x="8869552" y="723900"/>
                    <a:pt x="8755252" y="723900"/>
                  </a:cubicBezTo>
                  <a:lnTo>
                    <a:pt x="206883" y="723900"/>
                  </a:lnTo>
                  <a:cubicBezTo>
                    <a:pt x="92583" y="723900"/>
                    <a:pt x="0" y="631317"/>
                    <a:pt x="0" y="517017"/>
                  </a:cubicBezTo>
                  <a:close/>
                </a:path>
              </a:pathLst>
            </a:custGeom>
            <a:solidFill>
              <a:srgbClr val="0E2142"/>
            </a:solidFill>
            <a:ln w="9525" cap="sq">
              <a:solidFill>
                <a:srgbClr val="14DBF5"/>
              </a:solidFill>
              <a:prstDash val="dash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410086" y="6580505"/>
            <a:ext cx="385763" cy="385763"/>
            <a:chOff x="0" y="0"/>
            <a:chExt cx="304800" cy="304800"/>
          </a:xfrm>
        </p:grpSpPr>
        <p:sp>
          <p:nvSpPr>
            <p:cNvPr name="Freeform 44" id="44" descr="Ícone independente e substituível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47750" y="9791700"/>
            <a:ext cx="152400" cy="152400"/>
            <a:chOff x="0" y="0"/>
            <a:chExt cx="203200" cy="203200"/>
          </a:xfrm>
        </p:grpSpPr>
        <p:sp>
          <p:nvSpPr>
            <p:cNvPr name="Freeform 46" id="46" descr="Ícone independente e substituível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10225903" y="7201250"/>
            <a:ext cx="261475" cy="261475"/>
          </a:xfrm>
          <a:custGeom>
            <a:avLst/>
            <a:gdLst/>
            <a:ahLst/>
            <a:cxnLst/>
            <a:rect r="r" b="b" t="t" l="l"/>
            <a:pathLst>
              <a:path h="261475" w="261475">
                <a:moveTo>
                  <a:pt x="0" y="0"/>
                </a:moveTo>
                <a:lnTo>
                  <a:pt x="261474" y="0"/>
                </a:lnTo>
                <a:lnTo>
                  <a:pt x="261474" y="261474"/>
                </a:lnTo>
                <a:lnTo>
                  <a:pt x="0" y="2614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0132962" y="7508199"/>
            <a:ext cx="6721526" cy="542925"/>
            <a:chOff x="0" y="0"/>
            <a:chExt cx="8962034" cy="7239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962136" cy="723900"/>
            </a:xfrm>
            <a:custGeom>
              <a:avLst/>
              <a:gdLst/>
              <a:ahLst/>
              <a:cxnLst/>
              <a:rect r="r" b="b" t="t" l="l"/>
              <a:pathLst>
                <a:path h="723900" w="8962136">
                  <a:moveTo>
                    <a:pt x="0" y="206883"/>
                  </a:moveTo>
                  <a:cubicBezTo>
                    <a:pt x="0" y="92583"/>
                    <a:pt x="92583" y="0"/>
                    <a:pt x="206883" y="0"/>
                  </a:cubicBezTo>
                  <a:lnTo>
                    <a:pt x="8755252" y="0"/>
                  </a:lnTo>
                  <a:cubicBezTo>
                    <a:pt x="8869426" y="0"/>
                    <a:pt x="8962136" y="92583"/>
                    <a:pt x="8962136" y="206883"/>
                  </a:cubicBezTo>
                  <a:lnTo>
                    <a:pt x="8962136" y="517017"/>
                  </a:lnTo>
                  <a:cubicBezTo>
                    <a:pt x="8962136" y="631190"/>
                    <a:pt x="8869552" y="723900"/>
                    <a:pt x="8755252" y="723900"/>
                  </a:cubicBezTo>
                  <a:lnTo>
                    <a:pt x="206883" y="723900"/>
                  </a:lnTo>
                  <a:cubicBezTo>
                    <a:pt x="92583" y="723900"/>
                    <a:pt x="0" y="631317"/>
                    <a:pt x="0" y="517017"/>
                  </a:cubicBezTo>
                  <a:close/>
                </a:path>
              </a:pathLst>
            </a:custGeom>
            <a:solidFill>
              <a:srgbClr val="0E2245">
                <a:alpha val="80784"/>
              </a:srgbClr>
            </a:solidFill>
            <a:ln w="9525" cap="sq">
              <a:solidFill>
                <a:srgbClr val="14DBF5"/>
              </a:solidFill>
              <a:prstDash val="dash"/>
              <a:miter/>
            </a:ln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0376905" y="7519874"/>
            <a:ext cx="470642" cy="503360"/>
          </a:xfrm>
          <a:custGeom>
            <a:avLst/>
            <a:gdLst/>
            <a:ahLst/>
            <a:cxnLst/>
            <a:rect r="r" b="b" t="t" l="l"/>
            <a:pathLst>
              <a:path h="503360" w="470642">
                <a:moveTo>
                  <a:pt x="0" y="0"/>
                </a:moveTo>
                <a:lnTo>
                  <a:pt x="470641" y="0"/>
                </a:lnTo>
                <a:lnTo>
                  <a:pt x="470641" y="503360"/>
                </a:lnTo>
                <a:lnTo>
                  <a:pt x="0" y="5033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475" t="0" r="-3475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202596" y="6184310"/>
            <a:ext cx="294307" cy="260464"/>
          </a:xfrm>
          <a:custGeom>
            <a:avLst/>
            <a:gdLst/>
            <a:ahLst/>
            <a:cxnLst/>
            <a:rect r="r" b="b" t="t" l="l"/>
            <a:pathLst>
              <a:path h="260464" w="294307">
                <a:moveTo>
                  <a:pt x="0" y="0"/>
                </a:moveTo>
                <a:lnTo>
                  <a:pt x="294306" y="0"/>
                </a:lnTo>
                <a:lnTo>
                  <a:pt x="294306" y="260464"/>
                </a:lnTo>
                <a:lnTo>
                  <a:pt x="0" y="2604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4519" r="0" b="-8473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2221411" y="762000"/>
            <a:ext cx="3991928" cy="36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CONTINUE EXPLORANDO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7750" y="1123950"/>
            <a:ext cx="7869831" cy="96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2"/>
              </a:lnSpc>
            </a:pPr>
            <a:r>
              <a:rPr lang="en-US" sz="510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Quer aprender mais?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47750" y="2665581"/>
            <a:ext cx="1836896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2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continua.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47750" y="3314043"/>
            <a:ext cx="4234891" cy="40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APRENDA MAIS SOBRE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71625" y="3929548"/>
            <a:ext cx="5015865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Mecanismos de proteção digital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71625" y="4453423"/>
            <a:ext cx="7944803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Senhas fortes e autenticação em dois fatores (2FA)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71625" y="4977298"/>
            <a:ext cx="363474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Criptografia e antivírus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71625" y="5501173"/>
            <a:ext cx="544449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Phishing, malware e links suspeitos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71625" y="6025048"/>
            <a:ext cx="6242209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Boas práticas para proteger seus dados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598173" y="2846937"/>
            <a:ext cx="5896928" cy="524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550" b="true">
                <a:solidFill>
                  <a:srgbClr val="13DCF6"/>
                </a:solidFill>
                <a:latin typeface="Arimo Bold"/>
                <a:ea typeface="Arimo Bold"/>
                <a:cs typeface="Arimo Bold"/>
                <a:sym typeface="Arimo Bold"/>
              </a:rPr>
              <a:t>Explore nosso site educativo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936436" y="4547149"/>
            <a:ext cx="1598771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QR CODE —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936436" y="4832899"/>
            <a:ext cx="1598771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ACESSO AO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245998" y="5118649"/>
            <a:ext cx="824865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SITE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112398" y="5766349"/>
            <a:ext cx="6158865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Acesse pelo QR Code ou pelo endereço abaixo.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518422" y="9220200"/>
            <a:ext cx="6161837" cy="44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00" b="true">
                <a:solidFill>
                  <a:srgbClr val="13D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“SECURITY STARTS WITH US.”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435703" y="9258300"/>
            <a:ext cx="5623084" cy="3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5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Tradução: “A segurança começa conosco.”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76350" y="9744075"/>
            <a:ext cx="2658428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 Mecanismos de Segurança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649450" y="9744075"/>
            <a:ext cx="3444240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200">
                <a:solidFill>
                  <a:srgbClr val="9AB1C6">
                    <a:alpha val="70196"/>
                  </a:srgbClr>
                </a:solidFill>
                <a:latin typeface="Arimo"/>
                <a:ea typeface="Arimo"/>
                <a:cs typeface="Arimo"/>
                <a:sym typeface="Arimo"/>
              </a:rPr>
              <a:t>Semana da Computação · Nov 2026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988573" y="7639244"/>
            <a:ext cx="7343554" cy="261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599" b="true">
                <a:solidFill>
                  <a:srgbClr val="9AB1C6"/>
                </a:solidFill>
                <a:latin typeface="Arimo Bold"/>
                <a:ea typeface="Arimo Bold"/>
                <a:cs typeface="Arimo Bold"/>
                <a:sym typeface="Arimo Bold"/>
              </a:rPr>
              <a:t>github.com/Stenio-Moraes/Mecanismos_De_Seguranca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558068" y="7200904"/>
            <a:ext cx="5599271" cy="24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Repositório do Trabalho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988573" y="6632969"/>
            <a:ext cx="7343554" cy="261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599" b="true">
                <a:solidFill>
                  <a:srgbClr val="9AB1C6"/>
                </a:solidFill>
                <a:latin typeface="Arimo Bold"/>
                <a:ea typeface="Arimo Bold"/>
                <a:cs typeface="Arimo Bold"/>
                <a:sym typeface="Arimo Bold"/>
              </a:rPr>
              <a:t>stenio-moraes.github.io/Mecanismos_De_Seguranca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555295" y="6195736"/>
            <a:ext cx="5599271" cy="24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>
                <a:solidFill>
                  <a:srgbClr val="9AB1C6"/>
                </a:solidFill>
                <a:latin typeface="Arimo"/>
                <a:ea typeface="Arimo"/>
                <a:cs typeface="Arimo"/>
                <a:sym typeface="Arimo"/>
              </a:rPr>
              <a:t>Site Educativo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28700" y="6673510"/>
            <a:ext cx="4234891" cy="280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>
                <a:solidFill>
                  <a:srgbClr val="13D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TAMBÉM EXPLORE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028700" y="7191824"/>
            <a:ext cx="361950" cy="361950"/>
            <a:chOff x="0" y="0"/>
            <a:chExt cx="482600" cy="482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4DDF8">
                <a:alpha val="1961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14425" y="7277549"/>
            <a:ext cx="190500" cy="190500"/>
            <a:chOff x="0" y="0"/>
            <a:chExt cx="254000" cy="254000"/>
          </a:xfrm>
        </p:grpSpPr>
        <p:sp>
          <p:nvSpPr>
            <p:cNvPr name="Freeform 78" id="78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571625" y="7187062"/>
            <a:ext cx="5015865" cy="30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Quiz de segurança digital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028700" y="7791899"/>
            <a:ext cx="361950" cy="361950"/>
            <a:chOff x="0" y="0"/>
            <a:chExt cx="482600" cy="482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4DDF8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14425" y="7877624"/>
            <a:ext cx="190500" cy="190500"/>
            <a:chOff x="0" y="0"/>
            <a:chExt cx="254000" cy="254000"/>
          </a:xfrm>
        </p:grpSpPr>
        <p:sp>
          <p:nvSpPr>
            <p:cNvPr name="Freeform 83" id="83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571625" y="7787137"/>
            <a:ext cx="5015865" cy="60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Verificador de senhas</a:t>
            </a:r>
          </a:p>
          <a:p>
            <a:pPr algn="l">
              <a:lnSpc>
                <a:spcPts val="2386"/>
              </a:lnSpc>
            </a:pPr>
          </a:p>
        </p:txBody>
      </p:sp>
      <p:grpSp>
        <p:nvGrpSpPr>
          <p:cNvPr name="Group 85" id="85"/>
          <p:cNvGrpSpPr/>
          <p:nvPr/>
        </p:nvGrpSpPr>
        <p:grpSpPr>
          <a:xfrm rot="0">
            <a:off x="4667113" y="7146249"/>
            <a:ext cx="361950" cy="361950"/>
            <a:chOff x="0" y="0"/>
            <a:chExt cx="482600" cy="482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4DDF8">
                <a:alpha val="1961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4752838" y="7231974"/>
            <a:ext cx="190500" cy="190500"/>
            <a:chOff x="0" y="0"/>
            <a:chExt cx="254000" cy="254000"/>
          </a:xfrm>
        </p:grpSpPr>
        <p:sp>
          <p:nvSpPr>
            <p:cNvPr name="Freeform 88" id="88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5210038" y="7141487"/>
            <a:ext cx="5015865" cy="60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Gerador de senhas seguras</a:t>
            </a:r>
          </a:p>
          <a:p>
            <a:pPr algn="l">
              <a:lnSpc>
                <a:spcPts val="2386"/>
              </a:lnSpc>
            </a:pPr>
          </a:p>
        </p:txBody>
      </p:sp>
      <p:grpSp>
        <p:nvGrpSpPr>
          <p:cNvPr name="Group 90" id="90"/>
          <p:cNvGrpSpPr/>
          <p:nvPr/>
        </p:nvGrpSpPr>
        <p:grpSpPr>
          <a:xfrm rot="0">
            <a:off x="4655344" y="7806187"/>
            <a:ext cx="361950" cy="361950"/>
            <a:chOff x="0" y="0"/>
            <a:chExt cx="482600" cy="482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4DDF8">
                <a:alpha val="1961"/>
              </a:srgbClr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741069" y="7891912"/>
            <a:ext cx="190500" cy="190500"/>
            <a:chOff x="0" y="0"/>
            <a:chExt cx="254000" cy="254000"/>
          </a:xfrm>
        </p:grpSpPr>
        <p:sp>
          <p:nvSpPr>
            <p:cNvPr name="Freeform 93" id="93" descr="Ícone independente e substituível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5198269" y="7801424"/>
            <a:ext cx="5015865" cy="60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950">
                <a:solidFill>
                  <a:srgbClr val="EFF6FB"/>
                </a:solidFill>
                <a:latin typeface="Arimo"/>
                <a:ea typeface="Arimo"/>
                <a:cs typeface="Arimo"/>
                <a:sym typeface="Arimo"/>
              </a:rPr>
              <a:t>Ferramenta de criptografia</a:t>
            </a:r>
          </a:p>
          <a:p>
            <a:pPr algn="l">
              <a:lnSpc>
                <a:spcPts val="2386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DAHYCZbQ_P4</dc:identifier>
  <dcterms:modified xsi:type="dcterms:W3CDTF">2011-08-01T06:04:30Z</dcterms:modified>
  <cp:revision>1</cp:revision>
  <dc:title>Mecanismos-de-Seguranca-Canva-Editavel-v2.pptx</dc:title>
</cp:coreProperties>
</file>